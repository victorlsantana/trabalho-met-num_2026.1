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Montserrat Bold" panose="020B0604020202020204" charset="0"/>
      <p:regular r:id="rId11"/>
      <p:bold r:id="rId12"/>
    </p:embeddedFont>
    <p:embeddedFont>
      <p:font typeface="Montserrat Medium" panose="00000600000000000000" pitchFamily="2" charset="0"/>
      <p:regular r:id="rId13"/>
      <p:italic r:id="rId14"/>
    </p:embeddedFont>
    <p:embeddedFont>
      <p:font typeface="Montserrat Ultra-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3D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8CDB16-9CAE-81D3-464B-E9776C2D8FDF}" v="2076" dt="2026-06-01T04:22:14.8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45561" y="1727978"/>
            <a:ext cx="6896320" cy="7004933"/>
            <a:chOff x="0" y="0"/>
            <a:chExt cx="1181836" cy="12004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1836" cy="1200449"/>
            </a:xfrm>
            <a:custGeom>
              <a:avLst/>
              <a:gdLst/>
              <a:ahLst/>
              <a:cxnLst/>
              <a:rect l="l" t="t" r="r" b="b"/>
              <a:pathLst>
                <a:path w="1181836" h="1200449">
                  <a:moveTo>
                    <a:pt x="22452" y="0"/>
                  </a:moveTo>
                  <a:lnTo>
                    <a:pt x="1159384" y="0"/>
                  </a:lnTo>
                  <a:cubicBezTo>
                    <a:pt x="1171784" y="0"/>
                    <a:pt x="1181836" y="10052"/>
                    <a:pt x="1181836" y="22452"/>
                  </a:cubicBezTo>
                  <a:lnTo>
                    <a:pt x="1181836" y="1177997"/>
                  </a:lnTo>
                  <a:cubicBezTo>
                    <a:pt x="1181836" y="1190397"/>
                    <a:pt x="1171784" y="1200449"/>
                    <a:pt x="1159384" y="1200449"/>
                  </a:cubicBezTo>
                  <a:lnTo>
                    <a:pt x="22452" y="1200449"/>
                  </a:lnTo>
                  <a:cubicBezTo>
                    <a:pt x="10052" y="1200449"/>
                    <a:pt x="0" y="1190397"/>
                    <a:pt x="0" y="1177997"/>
                  </a:cubicBezTo>
                  <a:lnTo>
                    <a:pt x="0" y="22452"/>
                  </a:lnTo>
                  <a:cubicBezTo>
                    <a:pt x="0" y="10052"/>
                    <a:pt x="10052" y="0"/>
                    <a:pt x="22452" y="0"/>
                  </a:cubicBezTo>
                  <a:close/>
                </a:path>
              </a:pathLst>
            </a:custGeom>
            <a:solidFill>
              <a:srgbClr val="11448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603380" y="7734028"/>
            <a:ext cx="1283734" cy="1283734"/>
            <a:chOff x="0" y="0"/>
            <a:chExt cx="338103" cy="338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38103" cy="338103"/>
            </a:xfrm>
            <a:custGeom>
              <a:avLst/>
              <a:gdLst/>
              <a:ahLst/>
              <a:cxnLst/>
              <a:rect l="l" t="t" r="r" b="b"/>
              <a:pathLst>
                <a:path w="338103" h="338103">
                  <a:moveTo>
                    <a:pt x="84431" y="0"/>
                  </a:moveTo>
                  <a:lnTo>
                    <a:pt x="253672" y="0"/>
                  </a:lnTo>
                  <a:cubicBezTo>
                    <a:pt x="300302" y="0"/>
                    <a:pt x="338103" y="37801"/>
                    <a:pt x="338103" y="84431"/>
                  </a:cubicBezTo>
                  <a:lnTo>
                    <a:pt x="338103" y="253672"/>
                  </a:lnTo>
                  <a:cubicBezTo>
                    <a:pt x="338103" y="300302"/>
                    <a:pt x="300302" y="338103"/>
                    <a:pt x="253672" y="338103"/>
                  </a:cubicBezTo>
                  <a:lnTo>
                    <a:pt x="84431" y="338103"/>
                  </a:lnTo>
                  <a:cubicBezTo>
                    <a:pt x="37801" y="338103"/>
                    <a:pt x="0" y="300302"/>
                    <a:pt x="0" y="253672"/>
                  </a:cubicBezTo>
                  <a:lnTo>
                    <a:pt x="0" y="84431"/>
                  </a:lnTo>
                  <a:cubicBezTo>
                    <a:pt x="0" y="37801"/>
                    <a:pt x="37801" y="0"/>
                    <a:pt x="84431" y="0"/>
                  </a:cubicBezTo>
                  <a:close/>
                </a:path>
              </a:pathLst>
            </a:custGeom>
            <a:solidFill>
              <a:srgbClr val="81C4E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38103" cy="385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683232" y="2012830"/>
            <a:ext cx="6103978" cy="6103978"/>
          </a:xfrm>
          <a:custGeom>
            <a:avLst/>
            <a:gdLst/>
            <a:ahLst/>
            <a:cxnLst/>
            <a:rect l="l" t="t" r="r" b="b"/>
            <a:pathLst>
              <a:path w="6103978" h="6103978">
                <a:moveTo>
                  <a:pt x="0" y="0"/>
                </a:moveTo>
                <a:lnTo>
                  <a:pt x="6103979" y="0"/>
                </a:lnTo>
                <a:lnTo>
                  <a:pt x="6103979" y="6103978"/>
                </a:lnTo>
                <a:lnTo>
                  <a:pt x="0" y="6103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8" name="Group 8"/>
          <p:cNvGrpSpPr/>
          <p:nvPr/>
        </p:nvGrpSpPr>
        <p:grpSpPr>
          <a:xfrm>
            <a:off x="-845561" y="-377424"/>
            <a:ext cx="19509010" cy="1200336"/>
            <a:chOff x="0" y="0"/>
            <a:chExt cx="5138176" cy="3161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38176" cy="316138"/>
            </a:xfrm>
            <a:custGeom>
              <a:avLst/>
              <a:gdLst/>
              <a:ahLst/>
              <a:cxnLst/>
              <a:rect l="l" t="t" r="r" b="b"/>
              <a:pathLst>
                <a:path w="5138176" h="316138">
                  <a:moveTo>
                    <a:pt x="5556" y="0"/>
                  </a:moveTo>
                  <a:lnTo>
                    <a:pt x="5132620" y="0"/>
                  </a:lnTo>
                  <a:cubicBezTo>
                    <a:pt x="5134093" y="0"/>
                    <a:pt x="5135506" y="585"/>
                    <a:pt x="5136548" y="1627"/>
                  </a:cubicBezTo>
                  <a:cubicBezTo>
                    <a:pt x="5137590" y="2669"/>
                    <a:pt x="5138176" y="4082"/>
                    <a:pt x="5138176" y="5556"/>
                  </a:cubicBezTo>
                  <a:lnTo>
                    <a:pt x="5138176" y="310582"/>
                  </a:lnTo>
                  <a:cubicBezTo>
                    <a:pt x="5138176" y="312056"/>
                    <a:pt x="5137590" y="313469"/>
                    <a:pt x="5136548" y="314511"/>
                  </a:cubicBezTo>
                  <a:cubicBezTo>
                    <a:pt x="5135506" y="315552"/>
                    <a:pt x="5134093" y="316138"/>
                    <a:pt x="5132620" y="316138"/>
                  </a:cubicBezTo>
                  <a:lnTo>
                    <a:pt x="5556" y="316138"/>
                  </a:lnTo>
                  <a:cubicBezTo>
                    <a:pt x="4082" y="316138"/>
                    <a:pt x="2669" y="315552"/>
                    <a:pt x="1627" y="314511"/>
                  </a:cubicBezTo>
                  <a:cubicBezTo>
                    <a:pt x="585" y="313469"/>
                    <a:pt x="0" y="312056"/>
                    <a:pt x="0" y="310582"/>
                  </a:cubicBezTo>
                  <a:lnTo>
                    <a:pt x="0" y="5556"/>
                  </a:lnTo>
                  <a:cubicBezTo>
                    <a:pt x="0" y="4082"/>
                    <a:pt x="585" y="2669"/>
                    <a:pt x="1627" y="1627"/>
                  </a:cubicBezTo>
                  <a:cubicBezTo>
                    <a:pt x="2669" y="585"/>
                    <a:pt x="4082" y="0"/>
                    <a:pt x="5556" y="0"/>
                  </a:cubicBezTo>
                  <a:close/>
                </a:path>
              </a:pathLst>
            </a:custGeom>
            <a:solidFill>
              <a:srgbClr val="132F3C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138176" cy="3637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050759" y="3455086"/>
            <a:ext cx="12425037" cy="2641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4"/>
              </a:lnSpc>
            </a:pPr>
            <a:r>
              <a:rPr lang="en-US" sz="4180" b="1" spc="-209">
                <a:solidFill>
                  <a:srgbClr val="132F3C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Calibração de Pesos em Surveys Amostrais:</a:t>
            </a:r>
          </a:p>
          <a:p>
            <a:pPr algn="ctr">
              <a:lnSpc>
                <a:spcPts val="4082"/>
              </a:lnSpc>
            </a:pPr>
            <a:endParaRPr lang="en-US" sz="4180" b="1" spc="-209">
              <a:solidFill>
                <a:srgbClr val="132F3C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  <a:p>
            <a:pPr algn="ctr">
              <a:lnSpc>
                <a:spcPts val="4082"/>
              </a:lnSpc>
            </a:pPr>
            <a:endParaRPr lang="en-US" sz="4180" b="1" spc="-209">
              <a:solidFill>
                <a:srgbClr val="132F3C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  <a:p>
            <a:pPr algn="ctr">
              <a:lnSpc>
                <a:spcPts val="4082"/>
              </a:lnSpc>
            </a:pPr>
            <a:r>
              <a:rPr lang="en-US" sz="3780" b="1" spc="-189">
                <a:solidFill>
                  <a:srgbClr val="132F3C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Uma aplicação em pesquisa de Mercado</a:t>
            </a:r>
          </a:p>
          <a:p>
            <a:pPr algn="l">
              <a:lnSpc>
                <a:spcPts val="4082"/>
              </a:lnSpc>
            </a:pPr>
            <a:endParaRPr lang="en-US" sz="3780" b="1" spc="-189">
              <a:solidFill>
                <a:srgbClr val="132F3C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090749" y="7391636"/>
            <a:ext cx="5912647" cy="2035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5"/>
              </a:lnSpc>
            </a:pPr>
            <a:r>
              <a:rPr lang="en-US" sz="2354" b="1" spc="47">
                <a:solidFill>
                  <a:srgbClr val="113D5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Aluno: Victor Lucas Santana</a:t>
            </a:r>
          </a:p>
          <a:p>
            <a:pPr algn="l">
              <a:lnSpc>
                <a:spcPts val="3295"/>
              </a:lnSpc>
            </a:pPr>
            <a:r>
              <a:rPr lang="en-US" sz="2354" b="1" spc="47">
                <a:solidFill>
                  <a:srgbClr val="113D5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Professor: José André</a:t>
            </a:r>
          </a:p>
          <a:p>
            <a:pPr algn="l">
              <a:lnSpc>
                <a:spcPts val="3295"/>
              </a:lnSpc>
            </a:pPr>
            <a:r>
              <a:rPr lang="en-US" sz="2354" b="1" spc="47">
                <a:solidFill>
                  <a:srgbClr val="113D5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Disciplina: Métodos Numéricos 2026.1</a:t>
            </a:r>
          </a:p>
          <a:p>
            <a:pPr algn="l">
              <a:lnSpc>
                <a:spcPts val="3295"/>
              </a:lnSpc>
            </a:pPr>
            <a:endParaRPr lang="en-US" sz="2354" b="1" spc="47">
              <a:solidFill>
                <a:srgbClr val="113D5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>
              <a:lnSpc>
                <a:spcPts val="3295"/>
              </a:lnSpc>
            </a:pPr>
            <a:endParaRPr lang="en-US" sz="2354" b="1" spc="47">
              <a:solidFill>
                <a:srgbClr val="113D5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0" y="9637976"/>
            <a:ext cx="19509010" cy="1047936"/>
            <a:chOff x="0" y="0"/>
            <a:chExt cx="5138176" cy="276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138176" cy="276000"/>
            </a:xfrm>
            <a:custGeom>
              <a:avLst/>
              <a:gdLst/>
              <a:ahLst/>
              <a:cxnLst/>
              <a:rect l="l" t="t" r="r" b="b"/>
              <a:pathLst>
                <a:path w="5138176" h="276000">
                  <a:moveTo>
                    <a:pt x="5556" y="0"/>
                  </a:moveTo>
                  <a:lnTo>
                    <a:pt x="5132620" y="0"/>
                  </a:lnTo>
                  <a:cubicBezTo>
                    <a:pt x="5134093" y="0"/>
                    <a:pt x="5135506" y="585"/>
                    <a:pt x="5136548" y="1627"/>
                  </a:cubicBezTo>
                  <a:cubicBezTo>
                    <a:pt x="5137590" y="2669"/>
                    <a:pt x="5138176" y="4082"/>
                    <a:pt x="5138176" y="5556"/>
                  </a:cubicBezTo>
                  <a:lnTo>
                    <a:pt x="5138176" y="270444"/>
                  </a:lnTo>
                  <a:cubicBezTo>
                    <a:pt x="5138176" y="271917"/>
                    <a:pt x="5137590" y="273330"/>
                    <a:pt x="5136548" y="274372"/>
                  </a:cubicBezTo>
                  <a:cubicBezTo>
                    <a:pt x="5135506" y="275414"/>
                    <a:pt x="5134093" y="276000"/>
                    <a:pt x="5132620" y="276000"/>
                  </a:cubicBezTo>
                  <a:lnTo>
                    <a:pt x="5556" y="276000"/>
                  </a:lnTo>
                  <a:cubicBezTo>
                    <a:pt x="4082" y="276000"/>
                    <a:pt x="2669" y="275414"/>
                    <a:pt x="1627" y="274372"/>
                  </a:cubicBezTo>
                  <a:cubicBezTo>
                    <a:pt x="585" y="273330"/>
                    <a:pt x="0" y="271917"/>
                    <a:pt x="0" y="270444"/>
                  </a:cubicBezTo>
                  <a:lnTo>
                    <a:pt x="0" y="5556"/>
                  </a:lnTo>
                  <a:cubicBezTo>
                    <a:pt x="0" y="4082"/>
                    <a:pt x="585" y="2669"/>
                    <a:pt x="1627" y="1627"/>
                  </a:cubicBezTo>
                  <a:cubicBezTo>
                    <a:pt x="2669" y="585"/>
                    <a:pt x="4082" y="0"/>
                    <a:pt x="5556" y="0"/>
                  </a:cubicBezTo>
                  <a:close/>
                </a:path>
              </a:pathLst>
            </a:custGeom>
            <a:solidFill>
              <a:srgbClr val="132F3C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138176" cy="323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975566" y="1473319"/>
            <a:ext cx="1283734" cy="1283734"/>
            <a:chOff x="0" y="0"/>
            <a:chExt cx="338103" cy="33810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38103" cy="338103"/>
            </a:xfrm>
            <a:custGeom>
              <a:avLst/>
              <a:gdLst/>
              <a:ahLst/>
              <a:cxnLst/>
              <a:rect l="l" t="t" r="r" b="b"/>
              <a:pathLst>
                <a:path w="338103" h="338103">
                  <a:moveTo>
                    <a:pt x="84431" y="0"/>
                  </a:moveTo>
                  <a:lnTo>
                    <a:pt x="253672" y="0"/>
                  </a:lnTo>
                  <a:cubicBezTo>
                    <a:pt x="300302" y="0"/>
                    <a:pt x="338103" y="37801"/>
                    <a:pt x="338103" y="84431"/>
                  </a:cubicBezTo>
                  <a:lnTo>
                    <a:pt x="338103" y="253672"/>
                  </a:lnTo>
                  <a:cubicBezTo>
                    <a:pt x="338103" y="300302"/>
                    <a:pt x="300302" y="338103"/>
                    <a:pt x="253672" y="338103"/>
                  </a:cubicBezTo>
                  <a:lnTo>
                    <a:pt x="84431" y="338103"/>
                  </a:lnTo>
                  <a:cubicBezTo>
                    <a:pt x="37801" y="338103"/>
                    <a:pt x="0" y="300302"/>
                    <a:pt x="0" y="253672"/>
                  </a:cubicBezTo>
                  <a:lnTo>
                    <a:pt x="0" y="84431"/>
                  </a:lnTo>
                  <a:cubicBezTo>
                    <a:pt x="0" y="37801"/>
                    <a:pt x="37801" y="0"/>
                    <a:pt x="84431" y="0"/>
                  </a:cubicBezTo>
                  <a:close/>
                </a:path>
              </a:pathLst>
            </a:custGeom>
            <a:solidFill>
              <a:srgbClr val="81C4E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338103" cy="385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430353"/>
            <a:ext cx="1043148" cy="1043148"/>
            <a:chOff x="0" y="0"/>
            <a:chExt cx="274739" cy="2747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739" cy="274739"/>
            </a:xfrm>
            <a:custGeom>
              <a:avLst/>
              <a:gdLst/>
              <a:ahLst/>
              <a:cxnLst/>
              <a:rect l="l" t="t" r="r" b="b"/>
              <a:pathLst>
                <a:path w="274739" h="274739">
                  <a:moveTo>
                    <a:pt x="103904" y="0"/>
                  </a:moveTo>
                  <a:lnTo>
                    <a:pt x="170835" y="0"/>
                  </a:lnTo>
                  <a:cubicBezTo>
                    <a:pt x="198392" y="0"/>
                    <a:pt x="224820" y="10947"/>
                    <a:pt x="244306" y="30433"/>
                  </a:cubicBezTo>
                  <a:cubicBezTo>
                    <a:pt x="263792" y="49918"/>
                    <a:pt x="274739" y="76347"/>
                    <a:pt x="274739" y="103904"/>
                  </a:cubicBezTo>
                  <a:lnTo>
                    <a:pt x="274739" y="170835"/>
                  </a:lnTo>
                  <a:cubicBezTo>
                    <a:pt x="274739" y="228219"/>
                    <a:pt x="228219" y="274739"/>
                    <a:pt x="170835" y="274739"/>
                  </a:cubicBezTo>
                  <a:lnTo>
                    <a:pt x="103904" y="274739"/>
                  </a:lnTo>
                  <a:cubicBezTo>
                    <a:pt x="46519" y="274739"/>
                    <a:pt x="0" y="228219"/>
                    <a:pt x="0" y="170835"/>
                  </a:cubicBezTo>
                  <a:lnTo>
                    <a:pt x="0" y="103904"/>
                  </a:lnTo>
                  <a:cubicBezTo>
                    <a:pt x="0" y="46519"/>
                    <a:pt x="46519" y="0"/>
                    <a:pt x="103904" y="0"/>
                  </a:cubicBezTo>
                  <a:close/>
                </a:path>
              </a:pathLst>
            </a:custGeom>
            <a:solidFill>
              <a:srgbClr val="113D57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74739" cy="322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12755" y="7617531"/>
            <a:ext cx="1283734" cy="1283734"/>
            <a:chOff x="0" y="0"/>
            <a:chExt cx="338103" cy="3381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8103" cy="338103"/>
            </a:xfrm>
            <a:custGeom>
              <a:avLst/>
              <a:gdLst/>
              <a:ahLst/>
              <a:cxnLst/>
              <a:rect l="l" t="t" r="r" b="b"/>
              <a:pathLst>
                <a:path w="338103" h="338103">
                  <a:moveTo>
                    <a:pt x="84431" y="0"/>
                  </a:moveTo>
                  <a:lnTo>
                    <a:pt x="253672" y="0"/>
                  </a:lnTo>
                  <a:cubicBezTo>
                    <a:pt x="300302" y="0"/>
                    <a:pt x="338103" y="37801"/>
                    <a:pt x="338103" y="84431"/>
                  </a:cubicBezTo>
                  <a:lnTo>
                    <a:pt x="338103" y="253672"/>
                  </a:lnTo>
                  <a:cubicBezTo>
                    <a:pt x="338103" y="300302"/>
                    <a:pt x="300302" y="338103"/>
                    <a:pt x="253672" y="338103"/>
                  </a:cubicBezTo>
                  <a:lnTo>
                    <a:pt x="84431" y="338103"/>
                  </a:lnTo>
                  <a:cubicBezTo>
                    <a:pt x="37801" y="338103"/>
                    <a:pt x="0" y="300302"/>
                    <a:pt x="0" y="253672"/>
                  </a:cubicBezTo>
                  <a:lnTo>
                    <a:pt x="0" y="84431"/>
                  </a:lnTo>
                  <a:cubicBezTo>
                    <a:pt x="0" y="37801"/>
                    <a:pt x="37801" y="0"/>
                    <a:pt x="84431" y="0"/>
                  </a:cubicBezTo>
                  <a:close/>
                </a:path>
              </a:pathLst>
            </a:custGeom>
            <a:solidFill>
              <a:srgbClr val="4396C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38103" cy="385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596699" y="1028700"/>
            <a:ext cx="1193398" cy="8206713"/>
            <a:chOff x="0" y="0"/>
            <a:chExt cx="314311" cy="216143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4311" cy="2161439"/>
            </a:xfrm>
            <a:custGeom>
              <a:avLst/>
              <a:gdLst/>
              <a:ahLst/>
              <a:cxnLst/>
              <a:rect l="l" t="t" r="r" b="b"/>
              <a:pathLst>
                <a:path w="314311" h="2161439">
                  <a:moveTo>
                    <a:pt x="129746" y="0"/>
                  </a:moveTo>
                  <a:lnTo>
                    <a:pt x="184565" y="0"/>
                  </a:lnTo>
                  <a:cubicBezTo>
                    <a:pt x="256221" y="0"/>
                    <a:pt x="314311" y="58089"/>
                    <a:pt x="314311" y="129746"/>
                  </a:cubicBezTo>
                  <a:lnTo>
                    <a:pt x="314311" y="2031693"/>
                  </a:lnTo>
                  <a:cubicBezTo>
                    <a:pt x="314311" y="2066104"/>
                    <a:pt x="300641" y="2099105"/>
                    <a:pt x="276309" y="2123437"/>
                  </a:cubicBezTo>
                  <a:cubicBezTo>
                    <a:pt x="251977" y="2147769"/>
                    <a:pt x="218975" y="2161439"/>
                    <a:pt x="184565" y="2161439"/>
                  </a:cubicBezTo>
                  <a:lnTo>
                    <a:pt x="129746" y="2161439"/>
                  </a:lnTo>
                  <a:cubicBezTo>
                    <a:pt x="95335" y="2161439"/>
                    <a:pt x="62334" y="2147769"/>
                    <a:pt x="38002" y="2123437"/>
                  </a:cubicBezTo>
                  <a:cubicBezTo>
                    <a:pt x="13670" y="2099105"/>
                    <a:pt x="0" y="2066104"/>
                    <a:pt x="0" y="2031693"/>
                  </a:cubicBezTo>
                  <a:lnTo>
                    <a:pt x="0" y="129746"/>
                  </a:lnTo>
                  <a:cubicBezTo>
                    <a:pt x="0" y="95335"/>
                    <a:pt x="13670" y="62334"/>
                    <a:pt x="38002" y="38002"/>
                  </a:cubicBezTo>
                  <a:cubicBezTo>
                    <a:pt x="62334" y="13670"/>
                    <a:pt x="95335" y="0"/>
                    <a:pt x="129746" y="0"/>
                  </a:cubicBezTo>
                  <a:close/>
                </a:path>
              </a:pathLst>
            </a:custGeom>
            <a:solidFill>
              <a:srgbClr val="6A8AB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14311" cy="2209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949758" y="1774705"/>
            <a:ext cx="1141492" cy="1141492"/>
            <a:chOff x="0" y="0"/>
            <a:chExt cx="300640" cy="3006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00640" cy="300640"/>
            </a:xfrm>
            <a:custGeom>
              <a:avLst/>
              <a:gdLst/>
              <a:ahLst/>
              <a:cxnLst/>
              <a:rect l="l" t="t" r="r" b="b"/>
              <a:pathLst>
                <a:path w="300640" h="300640">
                  <a:moveTo>
                    <a:pt x="94952" y="0"/>
                  </a:moveTo>
                  <a:lnTo>
                    <a:pt x="205688" y="0"/>
                  </a:lnTo>
                  <a:cubicBezTo>
                    <a:pt x="258128" y="0"/>
                    <a:pt x="300640" y="42511"/>
                    <a:pt x="300640" y="94952"/>
                  </a:cubicBezTo>
                  <a:lnTo>
                    <a:pt x="300640" y="205688"/>
                  </a:lnTo>
                  <a:cubicBezTo>
                    <a:pt x="300640" y="258128"/>
                    <a:pt x="258128" y="300640"/>
                    <a:pt x="205688" y="300640"/>
                  </a:cubicBezTo>
                  <a:lnTo>
                    <a:pt x="94952" y="300640"/>
                  </a:lnTo>
                  <a:cubicBezTo>
                    <a:pt x="42511" y="300640"/>
                    <a:pt x="0" y="258128"/>
                    <a:pt x="0" y="205688"/>
                  </a:cubicBezTo>
                  <a:lnTo>
                    <a:pt x="0" y="94952"/>
                  </a:lnTo>
                  <a:cubicBezTo>
                    <a:pt x="0" y="42511"/>
                    <a:pt x="42511" y="0"/>
                    <a:pt x="94952" y="0"/>
                  </a:cubicBezTo>
                  <a:close/>
                </a:path>
              </a:pathLst>
            </a:custGeom>
            <a:solidFill>
              <a:srgbClr val="6A8AB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300640" cy="348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077325" y="1552669"/>
            <a:ext cx="10215734" cy="7991475"/>
            <a:chOff x="0" y="0"/>
            <a:chExt cx="2690564" cy="21047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690564" cy="2104751"/>
            </a:xfrm>
            <a:custGeom>
              <a:avLst/>
              <a:gdLst/>
              <a:ahLst/>
              <a:cxnLst/>
              <a:rect l="l" t="t" r="r" b="b"/>
              <a:pathLst>
                <a:path w="2690564" h="2104751">
                  <a:moveTo>
                    <a:pt x="17430" y="0"/>
                  </a:moveTo>
                  <a:lnTo>
                    <a:pt x="2673133" y="0"/>
                  </a:lnTo>
                  <a:cubicBezTo>
                    <a:pt x="2682760" y="0"/>
                    <a:pt x="2690564" y="7804"/>
                    <a:pt x="2690564" y="17430"/>
                  </a:cubicBezTo>
                  <a:lnTo>
                    <a:pt x="2690564" y="2087320"/>
                  </a:lnTo>
                  <a:cubicBezTo>
                    <a:pt x="2690564" y="2096947"/>
                    <a:pt x="2682760" y="2104751"/>
                    <a:pt x="2673133" y="2104751"/>
                  </a:cubicBezTo>
                  <a:lnTo>
                    <a:pt x="17430" y="2104751"/>
                  </a:lnTo>
                  <a:cubicBezTo>
                    <a:pt x="7804" y="2104751"/>
                    <a:pt x="0" y="2096947"/>
                    <a:pt x="0" y="2087320"/>
                  </a:cubicBezTo>
                  <a:lnTo>
                    <a:pt x="0" y="17430"/>
                  </a:lnTo>
                  <a:cubicBezTo>
                    <a:pt x="0" y="7804"/>
                    <a:pt x="7804" y="0"/>
                    <a:pt x="17430" y="0"/>
                  </a:cubicBezTo>
                  <a:close/>
                </a:path>
              </a:pathLst>
            </a:custGeom>
            <a:solidFill>
              <a:srgbClr val="81C4E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690564" cy="2152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689003" y="6345360"/>
            <a:ext cx="4474641" cy="111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510"/>
              </a:lnSpc>
            </a:pPr>
            <a:r>
              <a:rPr lang="en-US" sz="7880" b="1" spc="-394">
                <a:solidFill>
                  <a:srgbClr val="113D57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Sumário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98629" y="1856382"/>
            <a:ext cx="7375710" cy="90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571" b="1" spc="51">
                <a:solidFill>
                  <a:srgbClr val="113D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Uma breve contextualização do problema estatístico.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93634" y="1856382"/>
            <a:ext cx="400632" cy="445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571" b="1" spc="51">
                <a:solidFill>
                  <a:srgbClr val="113D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93634" y="3121471"/>
            <a:ext cx="400632" cy="445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571" b="1" spc="51">
                <a:solidFill>
                  <a:srgbClr val="113D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93634" y="4391369"/>
            <a:ext cx="400632" cy="427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571" b="1" spc="51">
                <a:solidFill>
                  <a:srgbClr val="113D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72068" y="5650886"/>
            <a:ext cx="400632" cy="427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571" b="1" spc="51">
                <a:solidFill>
                  <a:srgbClr val="113D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772068" y="6910402"/>
            <a:ext cx="409575" cy="391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30"/>
              </a:lnSpc>
              <a:spcBef>
                <a:spcPct val="0"/>
              </a:spcBef>
            </a:pPr>
            <a:r>
              <a:rPr lang="en-US" sz="2307" b="1" u="none" strike="noStrike" spc="46">
                <a:solidFill>
                  <a:srgbClr val="113D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72068" y="8256570"/>
            <a:ext cx="409575" cy="391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30"/>
              </a:lnSpc>
              <a:spcBef>
                <a:spcPct val="0"/>
              </a:spcBef>
            </a:pPr>
            <a:r>
              <a:rPr lang="en-US" sz="2307" b="1" u="none" strike="noStrike" spc="46">
                <a:solidFill>
                  <a:srgbClr val="113D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98629" y="3121471"/>
            <a:ext cx="7506476" cy="90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571" b="1" spc="51">
                <a:solidFill>
                  <a:srgbClr val="113D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formulação matemática como Problema de Programação Linear.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98629" y="4391369"/>
            <a:ext cx="7375710" cy="898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571" b="1" spc="51">
                <a:solidFill>
                  <a:srgbClr val="113D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definição das variáveis de decisão, função objetivo e restrições.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98629" y="5650886"/>
            <a:ext cx="7375710" cy="898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571" b="1" spc="51">
                <a:solidFill>
                  <a:srgbClr val="113D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construção de um pequeno conjunto de dados de exemplo.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98629" y="6910402"/>
            <a:ext cx="7375710" cy="898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571" b="1" spc="51">
                <a:solidFill>
                  <a:srgbClr val="113D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implementação e resolução do modelo no R, utilizando o pacote Rglpk.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498629" y="8169919"/>
            <a:ext cx="7375710" cy="898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571" b="1" spc="51">
                <a:solidFill>
                  <a:srgbClr val="113D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apresentação do modelo em R e dos resultados obtidos.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2687192" y="6052366"/>
            <a:ext cx="401281" cy="401281"/>
            <a:chOff x="0" y="0"/>
            <a:chExt cx="105687" cy="10568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5687" cy="105687"/>
            </a:xfrm>
            <a:custGeom>
              <a:avLst/>
              <a:gdLst/>
              <a:ahLst/>
              <a:cxnLst/>
              <a:rect l="l" t="t" r="r" b="b"/>
              <a:pathLst>
                <a:path w="105687" h="105687">
                  <a:moveTo>
                    <a:pt x="52844" y="0"/>
                  </a:moveTo>
                  <a:lnTo>
                    <a:pt x="52844" y="0"/>
                  </a:lnTo>
                  <a:cubicBezTo>
                    <a:pt x="82028" y="0"/>
                    <a:pt x="105687" y="23659"/>
                    <a:pt x="105687" y="52844"/>
                  </a:cubicBezTo>
                  <a:lnTo>
                    <a:pt x="105687" y="52844"/>
                  </a:lnTo>
                  <a:cubicBezTo>
                    <a:pt x="105687" y="82028"/>
                    <a:pt x="82028" y="105687"/>
                    <a:pt x="52844" y="105687"/>
                  </a:cubicBezTo>
                  <a:lnTo>
                    <a:pt x="52844" y="105687"/>
                  </a:lnTo>
                  <a:cubicBezTo>
                    <a:pt x="23659" y="105687"/>
                    <a:pt x="0" y="82028"/>
                    <a:pt x="0" y="52844"/>
                  </a:cubicBezTo>
                  <a:lnTo>
                    <a:pt x="0" y="52844"/>
                  </a:lnTo>
                  <a:cubicBezTo>
                    <a:pt x="0" y="23659"/>
                    <a:pt x="23659" y="0"/>
                    <a:pt x="52844" y="0"/>
                  </a:cubicBezTo>
                  <a:close/>
                </a:path>
              </a:pathLst>
            </a:custGeom>
            <a:solidFill>
              <a:srgbClr val="3383B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105687" cy="153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550274" y="6817243"/>
            <a:ext cx="786883" cy="786883"/>
            <a:chOff x="0" y="0"/>
            <a:chExt cx="207245" cy="20724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7245" cy="207245"/>
            </a:xfrm>
            <a:custGeom>
              <a:avLst/>
              <a:gdLst/>
              <a:ahLst/>
              <a:cxnLst/>
              <a:rect l="l" t="t" r="r" b="b"/>
              <a:pathLst>
                <a:path w="207245" h="207245">
                  <a:moveTo>
                    <a:pt x="103622" y="0"/>
                  </a:moveTo>
                  <a:lnTo>
                    <a:pt x="103622" y="0"/>
                  </a:lnTo>
                  <a:cubicBezTo>
                    <a:pt x="160851" y="0"/>
                    <a:pt x="207245" y="46393"/>
                    <a:pt x="207245" y="103622"/>
                  </a:cubicBezTo>
                  <a:lnTo>
                    <a:pt x="207245" y="103622"/>
                  </a:lnTo>
                  <a:cubicBezTo>
                    <a:pt x="207245" y="131105"/>
                    <a:pt x="196328" y="157462"/>
                    <a:pt x="176895" y="176895"/>
                  </a:cubicBezTo>
                  <a:cubicBezTo>
                    <a:pt x="157462" y="196328"/>
                    <a:pt x="131105" y="207245"/>
                    <a:pt x="103622" y="207245"/>
                  </a:cubicBezTo>
                  <a:lnTo>
                    <a:pt x="103622" y="207245"/>
                  </a:lnTo>
                  <a:cubicBezTo>
                    <a:pt x="76140" y="207245"/>
                    <a:pt x="49783" y="196328"/>
                    <a:pt x="30350" y="176895"/>
                  </a:cubicBezTo>
                  <a:cubicBezTo>
                    <a:pt x="10917" y="157462"/>
                    <a:pt x="0" y="131105"/>
                    <a:pt x="0" y="103622"/>
                  </a:cubicBezTo>
                  <a:lnTo>
                    <a:pt x="0" y="103622"/>
                  </a:lnTo>
                  <a:cubicBezTo>
                    <a:pt x="0" y="76140"/>
                    <a:pt x="10917" y="49783"/>
                    <a:pt x="30350" y="30350"/>
                  </a:cubicBezTo>
                  <a:cubicBezTo>
                    <a:pt x="49783" y="10917"/>
                    <a:pt x="76140" y="0"/>
                    <a:pt x="103622" y="0"/>
                  </a:cubicBezTo>
                  <a:close/>
                </a:path>
              </a:pathLst>
            </a:custGeom>
            <a:solidFill>
              <a:srgbClr val="C7E0E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207245" cy="254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2792" y="-1101486"/>
            <a:ext cx="11867007" cy="3269217"/>
            <a:chOff x="0" y="0"/>
            <a:chExt cx="3125467" cy="10768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25467" cy="1076866"/>
            </a:xfrm>
            <a:custGeom>
              <a:avLst/>
              <a:gdLst/>
              <a:ahLst/>
              <a:cxnLst/>
              <a:rect l="l" t="t" r="r" b="b"/>
              <a:pathLst>
                <a:path w="3125467" h="1076866">
                  <a:moveTo>
                    <a:pt x="9133" y="0"/>
                  </a:moveTo>
                  <a:lnTo>
                    <a:pt x="3116333" y="0"/>
                  </a:lnTo>
                  <a:cubicBezTo>
                    <a:pt x="3121378" y="0"/>
                    <a:pt x="3125467" y="4089"/>
                    <a:pt x="3125467" y="9133"/>
                  </a:cubicBezTo>
                  <a:lnTo>
                    <a:pt x="3125467" y="1067733"/>
                  </a:lnTo>
                  <a:cubicBezTo>
                    <a:pt x="3125467" y="1072777"/>
                    <a:pt x="3121378" y="1076866"/>
                    <a:pt x="3116333" y="1076866"/>
                  </a:cubicBezTo>
                  <a:lnTo>
                    <a:pt x="9133" y="1076866"/>
                  </a:lnTo>
                  <a:cubicBezTo>
                    <a:pt x="4089" y="1076866"/>
                    <a:pt x="0" y="1072777"/>
                    <a:pt x="0" y="1067733"/>
                  </a:cubicBezTo>
                  <a:lnTo>
                    <a:pt x="0" y="9133"/>
                  </a:lnTo>
                  <a:cubicBezTo>
                    <a:pt x="0" y="4089"/>
                    <a:pt x="4089" y="0"/>
                    <a:pt x="9133" y="0"/>
                  </a:cubicBezTo>
                  <a:close/>
                </a:path>
              </a:pathLst>
            </a:custGeom>
            <a:solidFill>
              <a:srgbClr val="4396C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125467" cy="11244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4214075" y="6287891"/>
            <a:ext cx="872583" cy="958883"/>
          </a:xfrm>
          <a:custGeom>
            <a:avLst/>
            <a:gdLst/>
            <a:ahLst/>
            <a:cxnLst/>
            <a:rect l="l" t="t" r="r" b="b"/>
            <a:pathLst>
              <a:path w="872583" h="958883">
                <a:moveTo>
                  <a:pt x="0" y="0"/>
                </a:moveTo>
                <a:lnTo>
                  <a:pt x="872583" y="0"/>
                </a:lnTo>
                <a:lnTo>
                  <a:pt x="872583" y="958883"/>
                </a:lnTo>
                <a:lnTo>
                  <a:pt x="0" y="958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>
            <a:off x="13440480" y="6323452"/>
            <a:ext cx="923321" cy="923321"/>
          </a:xfrm>
          <a:custGeom>
            <a:avLst/>
            <a:gdLst/>
            <a:ahLst/>
            <a:cxnLst/>
            <a:rect l="l" t="t" r="r" b="b"/>
            <a:pathLst>
              <a:path w="923321" h="923321">
                <a:moveTo>
                  <a:pt x="0" y="0"/>
                </a:moveTo>
                <a:lnTo>
                  <a:pt x="923322" y="0"/>
                </a:lnTo>
                <a:lnTo>
                  <a:pt x="923322" y="923322"/>
                </a:lnTo>
                <a:lnTo>
                  <a:pt x="0" y="9233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TextBox 16"/>
          <p:cNvSpPr txBox="1"/>
          <p:nvPr/>
        </p:nvSpPr>
        <p:spPr>
          <a:xfrm>
            <a:off x="2054601" y="102480"/>
            <a:ext cx="10995197" cy="173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dirty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1. Uma breve </a:t>
            </a:r>
            <a:r>
              <a:rPr lang="en-US" sz="5000" b="1" dirty="0" err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contextualização</a:t>
            </a:r>
            <a:r>
              <a:rPr lang="en-US" sz="5000" b="1" dirty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do </a:t>
            </a:r>
            <a:r>
              <a:rPr lang="en-US" sz="5000" b="1" dirty="0" err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problema</a:t>
            </a:r>
            <a:r>
              <a:rPr lang="en-US" sz="5000" b="1" dirty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estatístico</a:t>
            </a:r>
            <a:r>
              <a:rPr lang="en-US" sz="5000" b="1" dirty="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2792" y="2500677"/>
            <a:ext cx="16076508" cy="7666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4299"/>
              </a:lnSpc>
              <a:buFont typeface="Arial"/>
              <a:buChar char="•"/>
            </a:pP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Em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pesquisas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de mercado,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geralmente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não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é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possível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entrevistar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toda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a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população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de interesse. Por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isso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,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utiliza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-se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uma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amostra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,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que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deve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representar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adequadamente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as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características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da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população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lang="pt-BR">
              <a:solidFill>
                <a:schemeClr val="tx2">
                  <a:lumMod val="76000"/>
                </a:schemeClr>
              </a:solidFill>
              <a:ea typeface="Calibri"/>
              <a:cs typeface="Calibri"/>
            </a:endParaRPr>
          </a:p>
          <a:p>
            <a:pPr marL="457200" indent="-457200" algn="just">
              <a:lnSpc>
                <a:spcPts val="4299"/>
              </a:lnSpc>
              <a:buFont typeface="Arial"/>
              <a:buChar char="•"/>
            </a:pPr>
            <a:endParaRPr lang="en-US" sz="2650" spc="53" dirty="0">
              <a:solidFill>
                <a:schemeClr val="tx2">
                  <a:lumMod val="76000"/>
                </a:schemeClr>
              </a:solidFill>
              <a:latin typeface="Montserrat Medium"/>
              <a:ea typeface="Montserrat Medium"/>
              <a:cs typeface="Montserrat Medium"/>
            </a:endParaRPr>
          </a:p>
          <a:p>
            <a:pPr marL="457200" indent="-457200" algn="just">
              <a:lnSpc>
                <a:spcPts val="4299"/>
              </a:lnSpc>
              <a:buFont typeface="Arial"/>
              <a:buChar char="•"/>
            </a:pP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No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caso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da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pesquisa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realizada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em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Cabo Frio, o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objetivo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era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avaliar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a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percepção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da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população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sobre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a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possível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abertura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de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uma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unidade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 do SESC no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município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  <a:sym typeface="Montserrat Medium"/>
              </a:rPr>
              <a:t>.</a:t>
            </a:r>
            <a:endParaRPr lang="en-US" sz="2650" spc="53" dirty="0">
              <a:solidFill>
                <a:schemeClr val="tx2">
                  <a:lumMod val="76000"/>
                </a:schemeClr>
              </a:solidFill>
              <a:latin typeface="Montserrat Medium"/>
            </a:endParaRPr>
          </a:p>
          <a:p>
            <a:pPr marL="457200" indent="-457200" algn="just">
              <a:lnSpc>
                <a:spcPts val="4299"/>
              </a:lnSpc>
              <a:buFont typeface="Arial"/>
              <a:buChar char="•"/>
            </a:pPr>
            <a:endParaRPr lang="en-US" sz="2650" spc="53" dirty="0">
              <a:solidFill>
                <a:schemeClr val="tx2">
                  <a:lumMod val="76000"/>
                </a:schemeClr>
              </a:solidFill>
              <a:latin typeface="Montserrat Medium"/>
            </a:endParaRPr>
          </a:p>
          <a:p>
            <a:pPr marL="457200" indent="-457200" algn="just">
              <a:lnSpc>
                <a:spcPts val="4299"/>
              </a:lnSpc>
              <a:buFont typeface="Arial"/>
              <a:buChar char="•"/>
            </a:pP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Para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reduzir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esse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problema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,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utiliza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-se a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calibração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de pesos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amostrais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,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uma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técnica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que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ajusta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o peso de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cada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entrevistado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de forma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que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a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amostra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reproduza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proporções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populacionais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conhecidas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,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como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sexo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e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faixa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etária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.</a:t>
            </a:r>
          </a:p>
          <a:p>
            <a:pPr marL="457200" indent="-457200" algn="just">
              <a:lnSpc>
                <a:spcPts val="4299"/>
              </a:lnSpc>
              <a:buFont typeface="Arial"/>
              <a:buChar char="•"/>
            </a:pPr>
            <a:endParaRPr lang="en-US" sz="2650" spc="53" dirty="0">
              <a:solidFill>
                <a:schemeClr val="tx2">
                  <a:lumMod val="76000"/>
                </a:schemeClr>
              </a:solidFill>
              <a:latin typeface="Montserrat Medium"/>
            </a:endParaRPr>
          </a:p>
          <a:p>
            <a:pPr marL="457200" indent="-457200" algn="just">
              <a:lnSpc>
                <a:spcPts val="4299"/>
              </a:lnSpc>
              <a:buFont typeface="Arial"/>
              <a:buChar char="•"/>
            </a:pP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Inicialmente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cada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entrevistado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possui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peso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unitário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. Como a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distribuição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da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amostra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difere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da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população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,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utilizamos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Programação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Linear para encontrar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novos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pesos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que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reproduzam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as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proporções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populacionais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de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sexo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e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faixa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 </a:t>
            </a:r>
            <a:r>
              <a:rPr lang="en-US" sz="2650" spc="53" dirty="0" err="1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etária</a:t>
            </a:r>
            <a:r>
              <a:rPr lang="en-US" sz="2650" spc="53" dirty="0">
                <a:solidFill>
                  <a:schemeClr val="tx2">
                    <a:lumMod val="76000"/>
                  </a:schemeClr>
                </a:solidFill>
                <a:latin typeface="Montserrat Medium"/>
              </a:rPr>
              <a:t>.</a:t>
            </a:r>
          </a:p>
        </p:txBody>
      </p:sp>
      <p:grpSp>
        <p:nvGrpSpPr>
          <p:cNvPr id="23" name="Group 8">
            <a:extLst>
              <a:ext uri="{FF2B5EF4-FFF2-40B4-BE49-F238E27FC236}">
                <a16:creationId xmlns:a16="http://schemas.microsoft.com/office/drawing/2014/main" id="{528DEC4C-6315-A810-B912-CD1FCEDDB440}"/>
              </a:ext>
            </a:extLst>
          </p:cNvPr>
          <p:cNvGrpSpPr/>
          <p:nvPr/>
        </p:nvGrpSpPr>
        <p:grpSpPr>
          <a:xfrm>
            <a:off x="14667307" y="476563"/>
            <a:ext cx="1704685" cy="1704685"/>
            <a:chOff x="0" y="0"/>
            <a:chExt cx="812800" cy="812800"/>
          </a:xfrm>
        </p:grpSpPr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8151241-AF05-CDEB-DF1E-366B82C1284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13D57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10">
              <a:extLst>
                <a:ext uri="{FF2B5EF4-FFF2-40B4-BE49-F238E27FC236}">
                  <a16:creationId xmlns:a16="http://schemas.microsoft.com/office/drawing/2014/main" id="{CA7D5FF6-6F3E-FB0C-FF12-9E0CB1B798A2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sp>
        <p:nvSpPr>
          <p:cNvPr id="25" name="Freeform 14">
            <a:extLst>
              <a:ext uri="{FF2B5EF4-FFF2-40B4-BE49-F238E27FC236}">
                <a16:creationId xmlns:a16="http://schemas.microsoft.com/office/drawing/2014/main" id="{49FDB682-8F03-77DE-AA91-E9045DBDECB4}"/>
              </a:ext>
            </a:extLst>
          </p:cNvPr>
          <p:cNvSpPr/>
          <p:nvPr/>
        </p:nvSpPr>
        <p:spPr>
          <a:xfrm>
            <a:off x="15084796" y="876254"/>
            <a:ext cx="872583" cy="958883"/>
          </a:xfrm>
          <a:custGeom>
            <a:avLst/>
            <a:gdLst/>
            <a:ahLst/>
            <a:cxnLst/>
            <a:rect l="l" t="t" r="r" b="b"/>
            <a:pathLst>
              <a:path w="872583" h="958883">
                <a:moveTo>
                  <a:pt x="0" y="0"/>
                </a:moveTo>
                <a:lnTo>
                  <a:pt x="872583" y="0"/>
                </a:lnTo>
                <a:lnTo>
                  <a:pt x="872583" y="958883"/>
                </a:lnTo>
                <a:lnTo>
                  <a:pt x="0" y="958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Retângulo: Cantos Arredondados 358">
            <a:extLst>
              <a:ext uri="{FF2B5EF4-FFF2-40B4-BE49-F238E27FC236}">
                <a16:creationId xmlns:a16="http://schemas.microsoft.com/office/drawing/2014/main" id="{1C96849D-BA41-04C1-C7AF-09AB14D7A25B}"/>
              </a:ext>
            </a:extLst>
          </p:cNvPr>
          <p:cNvSpPr/>
          <p:nvPr/>
        </p:nvSpPr>
        <p:spPr>
          <a:xfrm>
            <a:off x="-607233" y="-318416"/>
            <a:ext cx="19698418" cy="23593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-903217" y="-513992"/>
            <a:ext cx="16025784" cy="274409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95"/>
              </a:lnSpc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1109756" y="343616"/>
            <a:ext cx="17770366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50"/>
              </a:lnSpc>
            </a:pPr>
            <a:r>
              <a:rPr lang="en-US" sz="44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A </a:t>
            </a:r>
            <a:r>
              <a:rPr lang="en-US" sz="4400" b="1" dirty="0" err="1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formulação</a:t>
            </a:r>
            <a:r>
              <a:rPr lang="en-US" sz="44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matemática</a:t>
            </a:r>
            <a:r>
              <a:rPr lang="en-US" sz="44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como</a:t>
            </a:r>
            <a:r>
              <a:rPr lang="en-US" sz="44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Problema</a:t>
            </a:r>
            <a:r>
              <a:rPr lang="en-US" sz="44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</a:t>
            </a:r>
            <a:r>
              <a:rPr lang="en-US" sz="4400" b="1" dirty="0" err="1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Programação</a:t>
            </a:r>
            <a:r>
              <a:rPr lang="en-US" sz="44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Linear.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02423" y="2239971"/>
            <a:ext cx="16179698" cy="5798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O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problema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de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calibração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de pesos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em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surveys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amostrais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consiste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em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ajustar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os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pesos dos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entrevistados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para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que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a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amostra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reproduza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características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conhecidas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da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população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,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como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sexo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e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faixa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etária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.</a:t>
            </a:r>
            <a:endParaRPr lang="pt-BR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650" b="1" spc="53" dirty="0">
              <a:solidFill>
                <a:srgbClr val="113D57"/>
              </a:solidFill>
              <a:latin typeface="Montserrat Medium"/>
              <a:ea typeface="+mn-lt"/>
              <a:cs typeface="+mn-lt"/>
              <a:sym typeface="Montserrat Medium"/>
            </a:endParaRPr>
          </a:p>
          <a:p>
            <a:pPr marL="457200" indent="-457200">
              <a:buFont typeface="Arial"/>
              <a:buChar char="•"/>
            </a:pP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Esse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processo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pode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ser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formulado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como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um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Problema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de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Programação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Linear (PPL), no qual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busca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-se encontrar um conjunto de pesos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que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satisfaça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restrições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populacionais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previamente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definidas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e,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mesmo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tempo, preserve a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estrutura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original da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amostra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.</a:t>
            </a:r>
            <a:endParaRPr lang="en-US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650" b="1" spc="53" dirty="0">
              <a:solidFill>
                <a:srgbClr val="113D57"/>
              </a:solidFill>
              <a:latin typeface="Montserrat Medium"/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No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contexto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da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calibração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de pesos, a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solução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ótima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seria o conjunto de pesos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que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faz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a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amostra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reproduzir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as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distribuições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populacionais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conhecidas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,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alterando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o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mínimo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possível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os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pesos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originais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.</a:t>
            </a:r>
            <a:endParaRPr lang="en-US" sz="2650" b="1" spc="53" dirty="0">
              <a:solidFill>
                <a:srgbClr val="113D57"/>
              </a:solidFill>
              <a:latin typeface="Montserrat Medium"/>
              <a:ea typeface="Calibri"/>
              <a:cs typeface="Calibri"/>
            </a:endParaRPr>
          </a:p>
          <a:p>
            <a:pPr marL="457200" indent="-457200" algn="l">
              <a:buFont typeface="Arial"/>
              <a:buChar char="•"/>
            </a:pPr>
            <a:endParaRPr lang="en-US" sz="2650" b="1" spc="53" dirty="0">
              <a:solidFill>
                <a:srgbClr val="113D57"/>
              </a:solidFill>
              <a:latin typeface="Montserrat Medium"/>
              <a:ea typeface="Calibri"/>
              <a:cs typeface="Calibri"/>
            </a:endParaRPr>
          </a:p>
          <a:p>
            <a:endParaRPr lang="en-US" sz="2650" b="1" spc="53" dirty="0">
              <a:solidFill>
                <a:srgbClr val="113D57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ts val="4299"/>
              </a:lnSpc>
            </a:pPr>
            <a:endParaRPr lang="en-US" sz="2650" b="1" spc="53" dirty="0">
              <a:solidFill>
                <a:srgbClr val="113D57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341" name="Retângulo: Cantos Arredondados 340">
            <a:extLst>
              <a:ext uri="{FF2B5EF4-FFF2-40B4-BE49-F238E27FC236}">
                <a16:creationId xmlns:a16="http://schemas.microsoft.com/office/drawing/2014/main" id="{E9C83CDC-261E-E960-2465-E149F3BD0A82}"/>
              </a:ext>
            </a:extLst>
          </p:cNvPr>
          <p:cNvSpPr/>
          <p:nvPr/>
        </p:nvSpPr>
        <p:spPr>
          <a:xfrm>
            <a:off x="1069421" y="7355708"/>
            <a:ext cx="2574985" cy="17339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>
                <a:ea typeface="+mn-lt"/>
                <a:cs typeface="+mn-lt"/>
              </a:rPr>
              <a:t>Amostra Coletada</a:t>
            </a:r>
            <a:endParaRPr lang="pt-BR" sz="2800" b="1">
              <a:ea typeface="Calibri"/>
              <a:cs typeface="Calibri"/>
            </a:endParaRPr>
          </a:p>
        </p:txBody>
      </p:sp>
      <p:sp>
        <p:nvSpPr>
          <p:cNvPr id="351" name="Retângulo: Cantos Arredondados 350">
            <a:extLst>
              <a:ext uri="{FF2B5EF4-FFF2-40B4-BE49-F238E27FC236}">
                <a16:creationId xmlns:a16="http://schemas.microsoft.com/office/drawing/2014/main" id="{41A67986-E892-CA9C-B45E-EB737A2F1C05}"/>
              </a:ext>
            </a:extLst>
          </p:cNvPr>
          <p:cNvSpPr/>
          <p:nvPr/>
        </p:nvSpPr>
        <p:spPr>
          <a:xfrm>
            <a:off x="4433724" y="7355708"/>
            <a:ext cx="2574985" cy="17339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800" b="1">
                <a:ea typeface="+mn-lt"/>
                <a:cs typeface="+mn-lt"/>
              </a:rPr>
              <a:t>Diferenças em relação</a:t>
            </a:r>
            <a:br>
              <a:rPr lang="pt-BR" sz="2800" b="1" dirty="0">
                <a:ea typeface="+mn-lt"/>
                <a:cs typeface="+mn-lt"/>
              </a:rPr>
            </a:br>
            <a:r>
              <a:rPr lang="pt-BR" sz="2800" b="1">
                <a:ea typeface="+mn-lt"/>
                <a:cs typeface="+mn-lt"/>
              </a:rPr>
              <a:t>à população</a:t>
            </a:r>
            <a:endParaRPr lang="pt-BR"/>
          </a:p>
        </p:txBody>
      </p:sp>
      <p:sp>
        <p:nvSpPr>
          <p:cNvPr id="352" name="Retângulo: Cantos Arredondados 351">
            <a:extLst>
              <a:ext uri="{FF2B5EF4-FFF2-40B4-BE49-F238E27FC236}">
                <a16:creationId xmlns:a16="http://schemas.microsoft.com/office/drawing/2014/main" id="{7A2EE151-6A70-C85C-8975-6ADF02ADDA2E}"/>
              </a:ext>
            </a:extLst>
          </p:cNvPr>
          <p:cNvSpPr/>
          <p:nvPr/>
        </p:nvSpPr>
        <p:spPr>
          <a:xfrm>
            <a:off x="7798025" y="7355707"/>
            <a:ext cx="2574985" cy="17339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800" b="1">
                <a:ea typeface="+mn-lt"/>
                <a:cs typeface="+mn-lt"/>
              </a:rPr>
              <a:t>Problema de Otimização</a:t>
            </a:r>
            <a:endParaRPr lang="pt-BR" b="1"/>
          </a:p>
        </p:txBody>
      </p:sp>
      <p:sp>
        <p:nvSpPr>
          <p:cNvPr id="353" name="Retângulo: Cantos Arredondados 352">
            <a:extLst>
              <a:ext uri="{FF2B5EF4-FFF2-40B4-BE49-F238E27FC236}">
                <a16:creationId xmlns:a16="http://schemas.microsoft.com/office/drawing/2014/main" id="{6C0FE2ED-E5FC-8478-76E3-C26988B89BB1}"/>
              </a:ext>
            </a:extLst>
          </p:cNvPr>
          <p:cNvSpPr/>
          <p:nvPr/>
        </p:nvSpPr>
        <p:spPr>
          <a:xfrm>
            <a:off x="11162327" y="7355707"/>
            <a:ext cx="2574985" cy="17339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800" b="1">
                <a:ea typeface="+mn-lt"/>
                <a:cs typeface="+mn-lt"/>
              </a:rPr>
              <a:t>Pesos Calibrados</a:t>
            </a:r>
            <a:endParaRPr lang="pt-BR"/>
          </a:p>
        </p:txBody>
      </p:sp>
      <p:sp>
        <p:nvSpPr>
          <p:cNvPr id="354" name="Retângulo: Cantos Arredondados 353">
            <a:extLst>
              <a:ext uri="{FF2B5EF4-FFF2-40B4-BE49-F238E27FC236}">
                <a16:creationId xmlns:a16="http://schemas.microsoft.com/office/drawing/2014/main" id="{06B63C95-B4FA-2314-1434-6A9EC5B120F4}"/>
              </a:ext>
            </a:extLst>
          </p:cNvPr>
          <p:cNvSpPr/>
          <p:nvPr/>
        </p:nvSpPr>
        <p:spPr>
          <a:xfrm>
            <a:off x="14526629" y="7355708"/>
            <a:ext cx="2574985" cy="17339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2800" b="1">
                <a:ea typeface="+mn-lt"/>
                <a:cs typeface="+mn-lt"/>
              </a:rPr>
              <a:t>Amostra Representativa</a:t>
            </a:r>
            <a:endParaRPr lang="pt-BR"/>
          </a:p>
        </p:txBody>
      </p:sp>
      <p:pic>
        <p:nvPicPr>
          <p:cNvPr id="355" name="Gráfico 354" descr="Seta para Direita com preenchimento sólido">
            <a:extLst>
              <a:ext uri="{FF2B5EF4-FFF2-40B4-BE49-F238E27FC236}">
                <a16:creationId xmlns:a16="http://schemas.microsoft.com/office/drawing/2014/main" id="{49BCA68D-1303-F79D-3B88-C6CD15CF1B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9744" y="7942772"/>
            <a:ext cx="590910" cy="634042"/>
          </a:xfrm>
          <a:prstGeom prst="rect">
            <a:avLst/>
          </a:prstGeom>
        </p:spPr>
      </p:pic>
      <p:pic>
        <p:nvPicPr>
          <p:cNvPr id="356" name="Gráfico 355" descr="Seta para Direita com preenchimento sólido">
            <a:extLst>
              <a:ext uri="{FF2B5EF4-FFF2-40B4-BE49-F238E27FC236}">
                <a16:creationId xmlns:a16="http://schemas.microsoft.com/office/drawing/2014/main" id="{D6F75128-7D80-4E28-1206-5EED28EF59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2479" y="7899640"/>
            <a:ext cx="590910" cy="634042"/>
          </a:xfrm>
          <a:prstGeom prst="rect">
            <a:avLst/>
          </a:prstGeom>
        </p:spPr>
      </p:pic>
      <p:pic>
        <p:nvPicPr>
          <p:cNvPr id="357" name="Gráfico 356" descr="Seta para Direita com preenchimento sólido">
            <a:extLst>
              <a:ext uri="{FF2B5EF4-FFF2-40B4-BE49-F238E27FC236}">
                <a16:creationId xmlns:a16="http://schemas.microsoft.com/office/drawing/2014/main" id="{34C6DBD6-523E-5457-216F-FADE94BFD2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3649" y="7899640"/>
            <a:ext cx="590910" cy="634042"/>
          </a:xfrm>
          <a:prstGeom prst="rect">
            <a:avLst/>
          </a:prstGeom>
        </p:spPr>
      </p:pic>
      <p:pic>
        <p:nvPicPr>
          <p:cNvPr id="358" name="Gráfico 357" descr="Seta para Direita com preenchimento sólido">
            <a:extLst>
              <a:ext uri="{FF2B5EF4-FFF2-40B4-BE49-F238E27FC236}">
                <a16:creationId xmlns:a16="http://schemas.microsoft.com/office/drawing/2014/main" id="{DF0C2E9A-E63D-6409-6271-EC5D2F784F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819517" y="7899640"/>
            <a:ext cx="590910" cy="634042"/>
          </a:xfrm>
          <a:prstGeom prst="rect">
            <a:avLst/>
          </a:prstGeom>
        </p:spPr>
      </p:pic>
      <p:pic>
        <p:nvPicPr>
          <p:cNvPr id="364" name="Gráfico 363" descr="Matemática com preenchimento sólido">
            <a:extLst>
              <a:ext uri="{FF2B5EF4-FFF2-40B4-BE49-F238E27FC236}">
                <a16:creationId xmlns:a16="http://schemas.microsoft.com/office/drawing/2014/main" id="{DF0DA725-A4EB-3848-C3DA-3983DDEEC4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213347" y="502489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35175" y="-507594"/>
            <a:ext cx="13439913" cy="2997156"/>
            <a:chOff x="-11360" y="-47625"/>
            <a:chExt cx="1563110" cy="1130171"/>
          </a:xfrm>
        </p:grpSpPr>
        <p:sp>
          <p:nvSpPr>
            <p:cNvPr id="3" name="Freeform 3"/>
            <p:cNvSpPr/>
            <p:nvPr/>
          </p:nvSpPr>
          <p:spPr>
            <a:xfrm>
              <a:off x="-11360" y="0"/>
              <a:ext cx="1563110" cy="1082546"/>
            </a:xfrm>
            <a:custGeom>
              <a:avLst/>
              <a:gdLst/>
              <a:ahLst/>
              <a:cxnLst/>
              <a:rect l="l" t="t" r="r" b="b"/>
              <a:pathLst>
                <a:path w="1375672" h="1076866">
                  <a:moveTo>
                    <a:pt x="20751" y="0"/>
                  </a:moveTo>
                  <a:lnTo>
                    <a:pt x="1354921" y="0"/>
                  </a:lnTo>
                  <a:cubicBezTo>
                    <a:pt x="1366382" y="0"/>
                    <a:pt x="1375672" y="9290"/>
                    <a:pt x="1375672" y="20751"/>
                  </a:cubicBezTo>
                  <a:lnTo>
                    <a:pt x="1375672" y="1056115"/>
                  </a:lnTo>
                  <a:cubicBezTo>
                    <a:pt x="1375672" y="1067576"/>
                    <a:pt x="1366382" y="1076866"/>
                    <a:pt x="1354921" y="1076866"/>
                  </a:cubicBezTo>
                  <a:lnTo>
                    <a:pt x="20751" y="1076866"/>
                  </a:lnTo>
                  <a:cubicBezTo>
                    <a:pt x="9290" y="1076866"/>
                    <a:pt x="0" y="1067576"/>
                    <a:pt x="0" y="1056115"/>
                  </a:cubicBezTo>
                  <a:lnTo>
                    <a:pt x="0" y="20751"/>
                  </a:lnTo>
                  <a:cubicBezTo>
                    <a:pt x="0" y="9290"/>
                    <a:pt x="9290" y="0"/>
                    <a:pt x="20751" y="0"/>
                  </a:cubicBezTo>
                  <a:close/>
                </a:path>
              </a:pathLst>
            </a:custGeom>
            <a:solidFill>
              <a:srgbClr val="6A8AB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11360" y="-47625"/>
              <a:ext cx="1523350" cy="1118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9664894"/>
            <a:ext cx="16230600" cy="1036232"/>
            <a:chOff x="0" y="0"/>
            <a:chExt cx="4274726" cy="2729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272917"/>
            </a:xfrm>
            <a:custGeom>
              <a:avLst/>
              <a:gdLst/>
              <a:ahLst/>
              <a:cxnLst/>
              <a:rect l="l" t="t" r="r" b="b"/>
              <a:pathLst>
                <a:path w="4274726" h="272917">
                  <a:moveTo>
                    <a:pt x="6678" y="0"/>
                  </a:moveTo>
                  <a:lnTo>
                    <a:pt x="4268048" y="0"/>
                  </a:lnTo>
                  <a:cubicBezTo>
                    <a:pt x="4271736" y="0"/>
                    <a:pt x="4274726" y="2990"/>
                    <a:pt x="4274726" y="6678"/>
                  </a:cubicBezTo>
                  <a:lnTo>
                    <a:pt x="4274726" y="266239"/>
                  </a:lnTo>
                  <a:cubicBezTo>
                    <a:pt x="4274726" y="269927"/>
                    <a:pt x="4271736" y="272917"/>
                    <a:pt x="4268048" y="272917"/>
                  </a:cubicBezTo>
                  <a:lnTo>
                    <a:pt x="6678" y="272917"/>
                  </a:lnTo>
                  <a:cubicBezTo>
                    <a:pt x="2990" y="272917"/>
                    <a:pt x="0" y="269927"/>
                    <a:pt x="0" y="266239"/>
                  </a:cubicBezTo>
                  <a:lnTo>
                    <a:pt x="0" y="6678"/>
                  </a:lnTo>
                  <a:cubicBezTo>
                    <a:pt x="0" y="2990"/>
                    <a:pt x="2990" y="0"/>
                    <a:pt x="6678" y="0"/>
                  </a:cubicBezTo>
                  <a:close/>
                </a:path>
              </a:pathLst>
            </a:custGeom>
            <a:solidFill>
              <a:srgbClr val="113D57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274726" cy="320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617550" y="616745"/>
            <a:ext cx="13037938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lang="en-US" sz="5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A </a:t>
            </a:r>
            <a:r>
              <a:rPr lang="en-US" sz="5000" b="1" dirty="0" err="1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definição</a:t>
            </a:r>
            <a:r>
              <a:rPr lang="en-US" sz="5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das </a:t>
            </a:r>
            <a:r>
              <a:rPr lang="en-US" sz="5000" b="1" dirty="0" err="1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variáveis</a:t>
            </a:r>
            <a:r>
              <a:rPr lang="en-US" sz="5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</a:t>
            </a:r>
            <a:r>
              <a:rPr lang="en-US" sz="5000" b="1" dirty="0" err="1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decisão</a:t>
            </a:r>
            <a:r>
              <a:rPr lang="en-US" sz="5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, </a:t>
            </a:r>
            <a:r>
              <a:rPr lang="en-US" sz="5000" b="1" dirty="0" err="1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função</a:t>
            </a:r>
            <a:r>
              <a:rPr lang="en-US" sz="5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000" b="1" dirty="0" err="1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</a:t>
            </a:r>
            <a:r>
              <a:rPr lang="en-US" sz="5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 </a:t>
            </a:r>
            <a:r>
              <a:rPr lang="en-US" sz="5000" b="1" dirty="0" err="1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restrições</a:t>
            </a:r>
            <a:r>
              <a:rPr lang="en-US" sz="5000" b="1" dirty="0">
                <a:solidFill>
                  <a:schemeClr val="bg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  <a:endParaRPr lang="en-US" sz="5000" b="1" dirty="0">
              <a:solidFill>
                <a:schemeClr val="bg1"/>
              </a:solidFill>
              <a:latin typeface="Montserrat Bold"/>
              <a:ea typeface="Montserrat Bold"/>
              <a:cs typeface="Montserra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593868" y="4120281"/>
            <a:ext cx="5314651" cy="4357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9"/>
              </a:lnSpc>
            </a:pPr>
            <a:br>
              <a:rPr lang="en-US" sz="2650" b="1" spc="53" dirty="0">
                <a:solidFill>
                  <a:srgbClr val="113D57"/>
                </a:solidFill>
                <a:latin typeface="Montserrat Medium"/>
                <a:sym typeface="Montserrat Medium"/>
              </a:rPr>
            </a:br>
            <a:br>
              <a:rPr lang="en-US" sz="2650" b="1" spc="53" dirty="0">
                <a:latin typeface="Montserrat Medium"/>
              </a:rPr>
            </a:br>
            <a:r>
              <a:rPr lang="en-US" sz="2650" b="1" spc="53">
                <a:solidFill>
                  <a:srgbClr val="113D57"/>
                </a:solidFill>
                <a:latin typeface="Montserrat Medium"/>
              </a:rPr>
              <a:t>Procura –se encontrar pesos </a:t>
            </a:r>
            <a:r>
              <a:rPr lang="en-US" sz="2650" b="1" spc="53" err="1">
                <a:solidFill>
                  <a:srgbClr val="113D57"/>
                </a:solidFill>
                <a:latin typeface="Montserrat Medium"/>
              </a:rPr>
              <a:t>que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</a:rPr>
              <a:t> </a:t>
            </a:r>
            <a:r>
              <a:rPr lang="en-US" sz="2650" b="1" spc="53" err="1">
                <a:solidFill>
                  <a:srgbClr val="113D57"/>
                </a:solidFill>
                <a:latin typeface="Montserrat Medium"/>
              </a:rPr>
              <a:t>atendam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</a:rPr>
              <a:t> </a:t>
            </a:r>
            <a:r>
              <a:rPr lang="en-US" sz="2650" b="1" spc="53" err="1">
                <a:solidFill>
                  <a:srgbClr val="113D57"/>
                </a:solidFill>
                <a:latin typeface="Montserrat Medium"/>
              </a:rPr>
              <a:t>às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</a:rPr>
              <a:t> </a:t>
            </a:r>
            <a:r>
              <a:rPr lang="en-US" sz="2650" b="1" spc="53" err="1">
                <a:solidFill>
                  <a:srgbClr val="113D57"/>
                </a:solidFill>
                <a:latin typeface="Montserrat Medium"/>
              </a:rPr>
              <a:t>características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</a:rPr>
              <a:t> da </a:t>
            </a:r>
            <a:r>
              <a:rPr lang="en-US" sz="2650" b="1" spc="53" err="1">
                <a:solidFill>
                  <a:srgbClr val="113D57"/>
                </a:solidFill>
                <a:latin typeface="Montserrat Medium"/>
              </a:rPr>
              <a:t>população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</a:rPr>
              <a:t>, mas </a:t>
            </a:r>
            <a:r>
              <a:rPr lang="en-US" sz="2650" b="1" spc="53" err="1">
                <a:solidFill>
                  <a:srgbClr val="113D57"/>
                </a:solidFill>
                <a:latin typeface="Montserrat Medium"/>
              </a:rPr>
              <a:t>sem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</a:rPr>
              <a:t> </a:t>
            </a:r>
            <a:r>
              <a:rPr lang="en-US" sz="2650" b="1" spc="53" err="1">
                <a:solidFill>
                  <a:srgbClr val="113D57"/>
                </a:solidFill>
                <a:latin typeface="Montserrat Medium"/>
              </a:rPr>
              <a:t>modificar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</a:rPr>
              <a:t> </a:t>
            </a:r>
            <a:r>
              <a:rPr lang="en-US" sz="2650" b="1" spc="53" err="1">
                <a:solidFill>
                  <a:srgbClr val="113D57"/>
                </a:solidFill>
                <a:latin typeface="Montserrat Medium"/>
              </a:rPr>
              <a:t>excessivamente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</a:rPr>
              <a:t> </a:t>
            </a:r>
            <a:r>
              <a:rPr lang="en-US" sz="2650" b="1" spc="53" err="1">
                <a:solidFill>
                  <a:srgbClr val="113D57"/>
                </a:solidFill>
                <a:latin typeface="Montserrat Medium"/>
              </a:rPr>
              <a:t>os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</a:rPr>
              <a:t> pesos </a:t>
            </a:r>
            <a:r>
              <a:rPr lang="en-US" sz="2650" b="1" spc="53" err="1">
                <a:solidFill>
                  <a:srgbClr val="113D57"/>
                </a:solidFill>
                <a:latin typeface="Montserrat Medium"/>
              </a:rPr>
              <a:t>originais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</a:rPr>
              <a:t> dos </a:t>
            </a:r>
            <a:r>
              <a:rPr lang="en-US" sz="2650" b="1" spc="53" err="1">
                <a:solidFill>
                  <a:srgbClr val="113D57"/>
                </a:solidFill>
                <a:latin typeface="Montserrat Medium"/>
              </a:rPr>
              <a:t>entrevistados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6609" y="4120280"/>
            <a:ext cx="5573443" cy="49089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9"/>
              </a:lnSpc>
            </a:pP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wᵢ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 =peso 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calibrado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 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atribuído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 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 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entrevistado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i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, para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i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= 1, ..., n (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onde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n é o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tamanho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da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amostra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)</a:t>
            </a:r>
            <a:b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</a:br>
            <a:br>
              <a:rPr lang="en-US" sz="2650" b="1" spc="53" dirty="0">
                <a:latin typeface="Montserrat Medium"/>
                <a:ea typeface="+mn-lt"/>
                <a:cs typeface="+mn-lt"/>
              </a:rPr>
            </a:b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Cada peso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representa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o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quanto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um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entrevistado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contribui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para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representar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a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população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após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a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calibração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.</a:t>
            </a:r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079292" y="3019226"/>
            <a:ext cx="3921765" cy="501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9"/>
              </a:lnSpc>
            </a:pPr>
            <a:r>
              <a:rPr lang="en-US" sz="2650" b="1" u="sng" spc="53" dirty="0" err="1">
                <a:solidFill>
                  <a:srgbClr val="113D57"/>
                </a:solidFill>
                <a:latin typeface="Montserrat Bold"/>
                <a:sym typeface="Montserrat Bold"/>
              </a:rPr>
              <a:t>Variáveis</a:t>
            </a:r>
            <a:r>
              <a:rPr lang="en-US" sz="2650" b="1" u="sng" spc="53" dirty="0">
                <a:solidFill>
                  <a:srgbClr val="113D57"/>
                </a:solidFill>
                <a:latin typeface="Montserrat Bold"/>
                <a:sym typeface="Montserrat Bold"/>
              </a:rPr>
              <a:t> d</a:t>
            </a:r>
            <a:r>
              <a:rPr lang="en-US" sz="2650" b="1" u="sng" spc="53" dirty="0">
                <a:solidFill>
                  <a:srgbClr val="113D56"/>
                </a:solidFill>
                <a:latin typeface="Montserrat Bold"/>
                <a:sym typeface="Montserrat Bold"/>
              </a:rPr>
              <a:t>e </a:t>
            </a:r>
            <a:r>
              <a:rPr lang="en-US" sz="2650" b="1" u="sng" spc="53" dirty="0" err="1">
                <a:solidFill>
                  <a:srgbClr val="113D56"/>
                </a:solidFill>
                <a:latin typeface="Montserrat Bold"/>
                <a:sym typeface="Montserrat Bold"/>
              </a:rPr>
              <a:t>Decis</a:t>
            </a:r>
            <a:r>
              <a:rPr lang="en-US" sz="2650" b="1" u="sng" spc="53" dirty="0" err="1">
                <a:solidFill>
                  <a:srgbClr val="113D57"/>
                </a:solidFill>
                <a:latin typeface="Montserrat Bold"/>
                <a:sym typeface="Montserrat Bold"/>
              </a:rPr>
              <a:t>ão</a:t>
            </a:r>
            <a:endParaRPr lang="pt-BR" u="sng">
              <a:ea typeface="Calibri"/>
              <a:cs typeface="Calibri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559184" y="3019226"/>
            <a:ext cx="3391895" cy="501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9"/>
              </a:lnSpc>
            </a:pPr>
            <a:r>
              <a:rPr lang="en-US" sz="2650" b="1" u="sng" spc="53" dirty="0" err="1">
                <a:solidFill>
                  <a:srgbClr val="113D57"/>
                </a:solidFill>
                <a:latin typeface="Montserrat Bold"/>
                <a:sym typeface="Montserrat Bold"/>
              </a:rPr>
              <a:t>Função</a:t>
            </a:r>
            <a:r>
              <a:rPr lang="en-US" sz="2650" b="1" u="sng" spc="53" dirty="0">
                <a:solidFill>
                  <a:srgbClr val="113D57"/>
                </a:solidFill>
                <a:latin typeface="Montserrat Bold"/>
                <a:sym typeface="Montserrat Bold"/>
              </a:rPr>
              <a:t> </a:t>
            </a:r>
            <a:r>
              <a:rPr lang="en-US" sz="2650" b="1" u="sng" spc="53" dirty="0" err="1">
                <a:solidFill>
                  <a:srgbClr val="113D57"/>
                </a:solidFill>
                <a:latin typeface="Montserrat Bold"/>
                <a:sym typeface="Montserrat Bold"/>
              </a:rPr>
              <a:t>Obje</a:t>
            </a:r>
            <a:r>
              <a:rPr lang="en-US" sz="2650" b="1" u="sng" spc="53" dirty="0" err="1">
                <a:solidFill>
                  <a:srgbClr val="113D57"/>
                </a:solidFill>
                <a:latin typeface="Montserrat Bold"/>
              </a:rPr>
              <a:t>tivo</a:t>
            </a:r>
            <a:endParaRPr lang="pt-BR" u="sng">
              <a:ea typeface="Calibri"/>
              <a:cs typeface="Calibri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475581" y="3019226"/>
            <a:ext cx="2552448" cy="50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9"/>
              </a:lnSpc>
            </a:pPr>
            <a:r>
              <a:rPr lang="en-US" sz="2650" b="1" u="sng" spc="53" dirty="0" err="1">
                <a:solidFill>
                  <a:srgbClr val="113D57"/>
                </a:solidFill>
                <a:latin typeface="Montserrat Bold"/>
                <a:sym typeface="Montserrat Bold"/>
              </a:rPr>
              <a:t>Restrições</a:t>
            </a:r>
            <a:endParaRPr lang="pt-BR" u="sng" dirty="0">
              <a:ea typeface="Calibri"/>
              <a:cs typeface="Calibri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16170461" y="733689"/>
            <a:ext cx="935078" cy="935078"/>
            <a:chOff x="0" y="0"/>
            <a:chExt cx="274739" cy="27473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4739" cy="274739"/>
            </a:xfrm>
            <a:custGeom>
              <a:avLst/>
              <a:gdLst/>
              <a:ahLst/>
              <a:cxnLst/>
              <a:rect l="l" t="t" r="r" b="b"/>
              <a:pathLst>
                <a:path w="274739" h="274739">
                  <a:moveTo>
                    <a:pt x="115912" y="0"/>
                  </a:moveTo>
                  <a:lnTo>
                    <a:pt x="158827" y="0"/>
                  </a:lnTo>
                  <a:cubicBezTo>
                    <a:pt x="189568" y="0"/>
                    <a:pt x="219051" y="12212"/>
                    <a:pt x="240789" y="33950"/>
                  </a:cubicBezTo>
                  <a:cubicBezTo>
                    <a:pt x="262526" y="55688"/>
                    <a:pt x="274739" y="85170"/>
                    <a:pt x="274739" y="115912"/>
                  </a:cubicBezTo>
                  <a:lnTo>
                    <a:pt x="274739" y="158827"/>
                  </a:lnTo>
                  <a:cubicBezTo>
                    <a:pt x="274739" y="222843"/>
                    <a:pt x="222843" y="274739"/>
                    <a:pt x="158827" y="274739"/>
                  </a:cubicBezTo>
                  <a:lnTo>
                    <a:pt x="115912" y="274739"/>
                  </a:lnTo>
                  <a:cubicBezTo>
                    <a:pt x="51896" y="274739"/>
                    <a:pt x="0" y="222843"/>
                    <a:pt x="0" y="158827"/>
                  </a:cubicBezTo>
                  <a:lnTo>
                    <a:pt x="0" y="115912"/>
                  </a:lnTo>
                  <a:cubicBezTo>
                    <a:pt x="0" y="51896"/>
                    <a:pt x="51896" y="0"/>
                    <a:pt x="115912" y="0"/>
                  </a:cubicBezTo>
                  <a:close/>
                </a:path>
              </a:pathLst>
            </a:custGeom>
            <a:solidFill>
              <a:srgbClr val="113D57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74739" cy="322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06211" y="1266428"/>
            <a:ext cx="1150740" cy="1150740"/>
            <a:chOff x="0" y="0"/>
            <a:chExt cx="338103" cy="33810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38103" cy="338103"/>
            </a:xfrm>
            <a:custGeom>
              <a:avLst/>
              <a:gdLst/>
              <a:ahLst/>
              <a:cxnLst/>
              <a:rect l="l" t="t" r="r" b="b"/>
              <a:pathLst>
                <a:path w="338103" h="338103">
                  <a:moveTo>
                    <a:pt x="94189" y="0"/>
                  </a:moveTo>
                  <a:lnTo>
                    <a:pt x="243914" y="0"/>
                  </a:lnTo>
                  <a:cubicBezTo>
                    <a:pt x="268895" y="0"/>
                    <a:pt x="292852" y="9923"/>
                    <a:pt x="310516" y="27587"/>
                  </a:cubicBezTo>
                  <a:cubicBezTo>
                    <a:pt x="328179" y="45251"/>
                    <a:pt x="338103" y="69208"/>
                    <a:pt x="338103" y="94189"/>
                  </a:cubicBezTo>
                  <a:lnTo>
                    <a:pt x="338103" y="243914"/>
                  </a:lnTo>
                  <a:cubicBezTo>
                    <a:pt x="338103" y="295933"/>
                    <a:pt x="295933" y="338103"/>
                    <a:pt x="243914" y="338103"/>
                  </a:cubicBezTo>
                  <a:lnTo>
                    <a:pt x="94189" y="338103"/>
                  </a:lnTo>
                  <a:cubicBezTo>
                    <a:pt x="42170" y="338103"/>
                    <a:pt x="0" y="295933"/>
                    <a:pt x="0" y="243914"/>
                  </a:cubicBezTo>
                  <a:lnTo>
                    <a:pt x="0" y="94189"/>
                  </a:lnTo>
                  <a:cubicBezTo>
                    <a:pt x="0" y="42170"/>
                    <a:pt x="42170" y="0"/>
                    <a:pt x="94189" y="0"/>
                  </a:cubicBezTo>
                  <a:close/>
                </a:path>
              </a:pathLst>
            </a:custGeom>
            <a:solidFill>
              <a:srgbClr val="4396C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338103" cy="385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46619" y="3912575"/>
            <a:ext cx="184050" cy="3359028"/>
            <a:chOff x="0" y="0"/>
            <a:chExt cx="54076" cy="98692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4076" cy="986927"/>
            </a:xfrm>
            <a:custGeom>
              <a:avLst/>
              <a:gdLst/>
              <a:ahLst/>
              <a:cxnLst/>
              <a:rect l="l" t="t" r="r" b="b"/>
              <a:pathLst>
                <a:path w="54076" h="986927">
                  <a:moveTo>
                    <a:pt x="27038" y="0"/>
                  </a:moveTo>
                  <a:lnTo>
                    <a:pt x="27038" y="0"/>
                  </a:lnTo>
                  <a:cubicBezTo>
                    <a:pt x="34209" y="0"/>
                    <a:pt x="41086" y="2849"/>
                    <a:pt x="46157" y="7919"/>
                  </a:cubicBezTo>
                  <a:cubicBezTo>
                    <a:pt x="51228" y="12990"/>
                    <a:pt x="54076" y="19867"/>
                    <a:pt x="54076" y="27038"/>
                  </a:cubicBezTo>
                  <a:lnTo>
                    <a:pt x="54076" y="959889"/>
                  </a:lnTo>
                  <a:cubicBezTo>
                    <a:pt x="54076" y="974822"/>
                    <a:pt x="41971" y="986927"/>
                    <a:pt x="27038" y="986927"/>
                  </a:cubicBezTo>
                  <a:lnTo>
                    <a:pt x="27038" y="986927"/>
                  </a:lnTo>
                  <a:cubicBezTo>
                    <a:pt x="12105" y="986927"/>
                    <a:pt x="0" y="974822"/>
                    <a:pt x="0" y="959889"/>
                  </a:cubicBezTo>
                  <a:lnTo>
                    <a:pt x="0" y="27038"/>
                  </a:lnTo>
                  <a:cubicBezTo>
                    <a:pt x="0" y="12105"/>
                    <a:pt x="12105" y="0"/>
                    <a:pt x="27038" y="0"/>
                  </a:cubicBezTo>
                  <a:close/>
                </a:path>
              </a:pathLst>
            </a:custGeom>
            <a:solidFill>
              <a:srgbClr val="4396C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54076" cy="1034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114768" y="3912575"/>
            <a:ext cx="184050" cy="3359028"/>
            <a:chOff x="0" y="0"/>
            <a:chExt cx="54076" cy="98692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076" cy="986927"/>
            </a:xfrm>
            <a:custGeom>
              <a:avLst/>
              <a:gdLst/>
              <a:ahLst/>
              <a:cxnLst/>
              <a:rect l="l" t="t" r="r" b="b"/>
              <a:pathLst>
                <a:path w="54076" h="986927">
                  <a:moveTo>
                    <a:pt x="27038" y="0"/>
                  </a:moveTo>
                  <a:lnTo>
                    <a:pt x="27038" y="0"/>
                  </a:lnTo>
                  <a:cubicBezTo>
                    <a:pt x="34209" y="0"/>
                    <a:pt x="41086" y="2849"/>
                    <a:pt x="46157" y="7919"/>
                  </a:cubicBezTo>
                  <a:cubicBezTo>
                    <a:pt x="51228" y="12990"/>
                    <a:pt x="54076" y="19867"/>
                    <a:pt x="54076" y="27038"/>
                  </a:cubicBezTo>
                  <a:lnTo>
                    <a:pt x="54076" y="959889"/>
                  </a:lnTo>
                  <a:cubicBezTo>
                    <a:pt x="54076" y="974822"/>
                    <a:pt x="41971" y="986927"/>
                    <a:pt x="27038" y="986927"/>
                  </a:cubicBezTo>
                  <a:lnTo>
                    <a:pt x="27038" y="986927"/>
                  </a:lnTo>
                  <a:cubicBezTo>
                    <a:pt x="12105" y="986927"/>
                    <a:pt x="0" y="974822"/>
                    <a:pt x="0" y="959889"/>
                  </a:cubicBezTo>
                  <a:lnTo>
                    <a:pt x="0" y="27038"/>
                  </a:lnTo>
                  <a:cubicBezTo>
                    <a:pt x="0" y="12105"/>
                    <a:pt x="12105" y="0"/>
                    <a:pt x="27038" y="0"/>
                  </a:cubicBezTo>
                  <a:close/>
                </a:path>
              </a:pathLst>
            </a:custGeom>
            <a:solidFill>
              <a:srgbClr val="4396C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54076" cy="1034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39390" y="286327"/>
            <a:ext cx="1023234" cy="1023234"/>
            <a:chOff x="0" y="0"/>
            <a:chExt cx="300640" cy="300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00640" cy="300640"/>
            </a:xfrm>
            <a:custGeom>
              <a:avLst/>
              <a:gdLst/>
              <a:ahLst/>
              <a:cxnLst/>
              <a:rect l="l" t="t" r="r" b="b"/>
              <a:pathLst>
                <a:path w="300640" h="300640">
                  <a:moveTo>
                    <a:pt x="105926" y="0"/>
                  </a:moveTo>
                  <a:lnTo>
                    <a:pt x="194714" y="0"/>
                  </a:lnTo>
                  <a:cubicBezTo>
                    <a:pt x="222807" y="0"/>
                    <a:pt x="249750" y="11160"/>
                    <a:pt x="269615" y="31025"/>
                  </a:cubicBezTo>
                  <a:cubicBezTo>
                    <a:pt x="289480" y="50890"/>
                    <a:pt x="300640" y="77833"/>
                    <a:pt x="300640" y="105926"/>
                  </a:cubicBezTo>
                  <a:lnTo>
                    <a:pt x="300640" y="194714"/>
                  </a:lnTo>
                  <a:cubicBezTo>
                    <a:pt x="300640" y="253215"/>
                    <a:pt x="253215" y="300640"/>
                    <a:pt x="194714" y="300640"/>
                  </a:cubicBezTo>
                  <a:lnTo>
                    <a:pt x="105926" y="300640"/>
                  </a:lnTo>
                  <a:cubicBezTo>
                    <a:pt x="47425" y="300640"/>
                    <a:pt x="0" y="253215"/>
                    <a:pt x="0" y="194714"/>
                  </a:cubicBezTo>
                  <a:lnTo>
                    <a:pt x="0" y="105926"/>
                  </a:lnTo>
                  <a:cubicBezTo>
                    <a:pt x="0" y="47425"/>
                    <a:pt x="47425" y="0"/>
                    <a:pt x="105926" y="0"/>
                  </a:cubicBezTo>
                  <a:close/>
                </a:path>
              </a:pathLst>
            </a:custGeom>
            <a:solidFill>
              <a:srgbClr val="6A8AB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300640" cy="348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7163374" y="1834885"/>
            <a:ext cx="705362" cy="705362"/>
            <a:chOff x="0" y="0"/>
            <a:chExt cx="207245" cy="20724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7245" cy="207245"/>
            </a:xfrm>
            <a:custGeom>
              <a:avLst/>
              <a:gdLst/>
              <a:ahLst/>
              <a:cxnLst/>
              <a:rect l="l" t="t" r="r" b="b"/>
              <a:pathLst>
                <a:path w="207245" h="207245">
                  <a:moveTo>
                    <a:pt x="103622" y="0"/>
                  </a:moveTo>
                  <a:lnTo>
                    <a:pt x="103622" y="0"/>
                  </a:lnTo>
                  <a:cubicBezTo>
                    <a:pt x="160851" y="0"/>
                    <a:pt x="207245" y="46393"/>
                    <a:pt x="207245" y="103622"/>
                  </a:cubicBezTo>
                  <a:lnTo>
                    <a:pt x="207245" y="103622"/>
                  </a:lnTo>
                  <a:cubicBezTo>
                    <a:pt x="207245" y="131105"/>
                    <a:pt x="196328" y="157462"/>
                    <a:pt x="176895" y="176895"/>
                  </a:cubicBezTo>
                  <a:cubicBezTo>
                    <a:pt x="157462" y="196328"/>
                    <a:pt x="131105" y="207245"/>
                    <a:pt x="103622" y="207245"/>
                  </a:cubicBezTo>
                  <a:lnTo>
                    <a:pt x="103622" y="207245"/>
                  </a:lnTo>
                  <a:cubicBezTo>
                    <a:pt x="76140" y="207245"/>
                    <a:pt x="49783" y="196328"/>
                    <a:pt x="30350" y="176895"/>
                  </a:cubicBezTo>
                  <a:cubicBezTo>
                    <a:pt x="10917" y="157462"/>
                    <a:pt x="0" y="131105"/>
                    <a:pt x="0" y="103622"/>
                  </a:cubicBezTo>
                  <a:lnTo>
                    <a:pt x="0" y="103622"/>
                  </a:lnTo>
                  <a:cubicBezTo>
                    <a:pt x="0" y="76140"/>
                    <a:pt x="10917" y="49783"/>
                    <a:pt x="30350" y="30350"/>
                  </a:cubicBezTo>
                  <a:cubicBezTo>
                    <a:pt x="49783" y="10917"/>
                    <a:pt x="76140" y="0"/>
                    <a:pt x="103622" y="0"/>
                  </a:cubicBezTo>
                  <a:close/>
                </a:path>
              </a:pathLst>
            </a:custGeom>
            <a:solidFill>
              <a:srgbClr val="C7E0E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207245" cy="254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pic>
        <p:nvPicPr>
          <p:cNvPr id="37" name="Gráfico 36">
            <a:extLst>
              <a:ext uri="{FF2B5EF4-FFF2-40B4-BE49-F238E27FC236}">
                <a16:creationId xmlns:a16="http://schemas.microsoft.com/office/drawing/2014/main" id="{97BFF787-AC46-E7C9-6020-F22456F2CE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44539" y="3922592"/>
            <a:ext cx="3522092" cy="907174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43F4D5B4-44BE-1296-50A4-653ACBC2AE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44539" y="5137479"/>
            <a:ext cx="3316497" cy="914940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EAF90D78-9620-43E7-5B6C-C32212721A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03332" y="6309233"/>
            <a:ext cx="3918549" cy="923566"/>
          </a:xfrm>
          <a:prstGeom prst="rect">
            <a:avLst/>
          </a:prstGeom>
        </p:spPr>
      </p:pic>
      <p:pic>
        <p:nvPicPr>
          <p:cNvPr id="40" name="Gráfico 39">
            <a:extLst>
              <a:ext uri="{FF2B5EF4-FFF2-40B4-BE49-F238E27FC236}">
                <a16:creationId xmlns:a16="http://schemas.microsoft.com/office/drawing/2014/main" id="{111803A5-EB9F-58C3-6CFB-9B8508338F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03332" y="7567252"/>
            <a:ext cx="3706485" cy="906314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2BDACEC2-ECA9-98D6-6BCC-5A18AD37C1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5108" y="3918099"/>
            <a:ext cx="2738778" cy="1113706"/>
          </a:xfrm>
          <a:prstGeom prst="rect">
            <a:avLst/>
          </a:prstGeom>
        </p:spPr>
      </p:pic>
      <p:pic>
        <p:nvPicPr>
          <p:cNvPr id="42" name="Gráfico 41">
            <a:extLst>
              <a:ext uri="{FF2B5EF4-FFF2-40B4-BE49-F238E27FC236}">
                <a16:creationId xmlns:a16="http://schemas.microsoft.com/office/drawing/2014/main" id="{1741069E-031D-C863-9123-28DCB313AB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560364" y="8759855"/>
            <a:ext cx="3157987" cy="5526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58859" y="-260411"/>
            <a:ext cx="22131028" cy="3031991"/>
            <a:chOff x="0" y="0"/>
            <a:chExt cx="1375672" cy="1076866"/>
          </a:xfrm>
        </p:grpSpPr>
        <p:sp>
          <p:nvSpPr>
            <p:cNvPr id="4" name="TextBox 4"/>
            <p:cNvSpPr txBox="1"/>
            <p:nvPr/>
          </p:nvSpPr>
          <p:spPr>
            <a:xfrm>
              <a:off x="0" y="-47625"/>
              <a:ext cx="1375672" cy="11244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  <p:sp>
          <p:nvSpPr>
            <p:cNvPr id="3" name="Freeform 3"/>
            <p:cNvSpPr/>
            <p:nvPr/>
          </p:nvSpPr>
          <p:spPr>
            <a:xfrm>
              <a:off x="0" y="0"/>
              <a:ext cx="1375672" cy="1076866"/>
            </a:xfrm>
            <a:custGeom>
              <a:avLst/>
              <a:gdLst/>
              <a:ahLst/>
              <a:cxnLst/>
              <a:rect l="l" t="t" r="r" b="b"/>
              <a:pathLst>
                <a:path w="1375672" h="1076866">
                  <a:moveTo>
                    <a:pt x="20751" y="0"/>
                  </a:moveTo>
                  <a:lnTo>
                    <a:pt x="1354921" y="0"/>
                  </a:lnTo>
                  <a:cubicBezTo>
                    <a:pt x="1366382" y="0"/>
                    <a:pt x="1375672" y="9290"/>
                    <a:pt x="1375672" y="20751"/>
                  </a:cubicBezTo>
                  <a:lnTo>
                    <a:pt x="1375672" y="1056115"/>
                  </a:lnTo>
                  <a:cubicBezTo>
                    <a:pt x="1375672" y="1067576"/>
                    <a:pt x="1366382" y="1076866"/>
                    <a:pt x="1354921" y="1076866"/>
                  </a:cubicBezTo>
                  <a:lnTo>
                    <a:pt x="20751" y="1076866"/>
                  </a:lnTo>
                  <a:cubicBezTo>
                    <a:pt x="9290" y="1076866"/>
                    <a:pt x="0" y="1067576"/>
                    <a:pt x="0" y="1056115"/>
                  </a:cubicBezTo>
                  <a:lnTo>
                    <a:pt x="0" y="20751"/>
                  </a:lnTo>
                  <a:cubicBezTo>
                    <a:pt x="0" y="9290"/>
                    <a:pt x="9290" y="0"/>
                    <a:pt x="20751" y="0"/>
                  </a:cubicBezTo>
                  <a:close/>
                </a:path>
              </a:pathLst>
            </a:custGeom>
            <a:solidFill>
              <a:srgbClr val="3383B2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14012" y="262060"/>
            <a:ext cx="11140129" cy="62177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A </a:t>
            </a:r>
            <a:r>
              <a:rPr lang="en-US" sz="5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construção</a:t>
            </a:r>
            <a:r>
              <a:rPr lang="en-US" sz="5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um </a:t>
            </a:r>
            <a:r>
              <a:rPr lang="en-US" sz="5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pequeno</a:t>
            </a:r>
            <a:r>
              <a:rPr lang="en-US" sz="5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conjunto de dados de </a:t>
            </a:r>
            <a:r>
              <a:rPr lang="en-US" sz="5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exemplo</a:t>
            </a:r>
            <a:r>
              <a:rPr lang="en-US" sz="5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  <a:endParaRPr lang="pt-BR" dirty="0">
              <a:sym typeface="Montserrat Bold"/>
            </a:endParaRPr>
          </a:p>
          <a:p>
            <a:pPr>
              <a:lnSpc>
                <a:spcPts val="7000"/>
              </a:lnSpc>
            </a:pPr>
            <a:r>
              <a:rPr lang="pt-BR" dirty="0">
                <a:solidFill>
                  <a:srgbClr val="FFFFFF"/>
                </a:solidFill>
                <a:latin typeface="Calibri"/>
                <a:ea typeface="Montserrat Bold"/>
                <a:cs typeface="Montserrat Bold"/>
              </a:rPr>
              <a:t>FONTE: </a:t>
            </a:r>
            <a:r>
              <a:rPr lang="pt-BR" dirty="0">
                <a:solidFill>
                  <a:srgbClr val="FFFFFF"/>
                </a:solidFill>
                <a:ea typeface="+mn-lt"/>
                <a:cs typeface="+mn-lt"/>
              </a:rPr>
              <a:t>github.com/</a:t>
            </a:r>
            <a:r>
              <a:rPr lang="pt-BR" dirty="0" err="1">
                <a:solidFill>
                  <a:srgbClr val="FFFFFF"/>
                </a:solidFill>
                <a:ea typeface="+mn-lt"/>
                <a:cs typeface="+mn-lt"/>
              </a:rPr>
              <a:t>VictorLSantana</a:t>
            </a:r>
            <a:r>
              <a:rPr lang="pt-BR" dirty="0">
                <a:solidFill>
                  <a:srgbClr val="FFFFFF"/>
                </a:solidFill>
                <a:ea typeface="+mn-lt"/>
                <a:cs typeface="+mn-lt"/>
              </a:rPr>
              <a:t>/trabalho-met-num_2026.1</a:t>
            </a:r>
            <a:endParaRPr lang="en-US" sz="5000" b="1" dirty="0">
              <a:solidFill>
                <a:srgbClr val="FFFFFF"/>
              </a:solidFill>
              <a:ea typeface="+mn-lt"/>
              <a:cs typeface="+mn-lt"/>
            </a:endParaRPr>
          </a:p>
          <a:p>
            <a:pPr algn="ctr">
              <a:lnSpc>
                <a:spcPts val="7000"/>
              </a:lnSpc>
            </a:pPr>
            <a:endParaRPr lang="en-US" sz="50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</a:endParaRPr>
          </a:p>
          <a:p>
            <a:pPr algn="ctr">
              <a:lnSpc>
                <a:spcPts val="7000"/>
              </a:lnSpc>
            </a:pPr>
            <a:endParaRPr lang="en-US" sz="50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</a:endParaRPr>
          </a:p>
          <a:p>
            <a:pPr algn="ctr">
              <a:lnSpc>
                <a:spcPts val="7000"/>
              </a:lnSpc>
            </a:pPr>
            <a:endParaRPr lang="en-US" sz="50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</a:endParaRPr>
          </a:p>
          <a:p>
            <a:pPr algn="ctr">
              <a:lnSpc>
                <a:spcPts val="7000"/>
              </a:lnSpc>
            </a:pPr>
            <a:endParaRPr lang="en-US" sz="5000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</a:endParaRPr>
          </a:p>
        </p:txBody>
      </p:sp>
      <p:pic>
        <p:nvPicPr>
          <p:cNvPr id="32" name="Imagem 31" descr="Tela de celular com publicação numa rede social&#10;&#10;O conteúdo gerado por IA pode estar incorreto.">
            <a:extLst>
              <a:ext uri="{FF2B5EF4-FFF2-40B4-BE49-F238E27FC236}">
                <a16:creationId xmlns:a16="http://schemas.microsoft.com/office/drawing/2014/main" id="{C6B23627-6F45-15B8-8D0A-2C87DAEAB9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15" t="34608" r="32513" b="9601"/>
          <a:stretch>
            <a:fillRect/>
          </a:stretch>
        </p:blipFill>
        <p:spPr>
          <a:xfrm>
            <a:off x="-287" y="4910537"/>
            <a:ext cx="6139319" cy="5500597"/>
          </a:xfrm>
          <a:prstGeom prst="rect">
            <a:avLst/>
          </a:prstGeom>
        </p:spPr>
      </p:pic>
      <p:pic>
        <p:nvPicPr>
          <p:cNvPr id="36" name="Imagem 35" descr="Texto&#10;&#10;O conteúdo gerado por IA pode estar incorreto.">
            <a:extLst>
              <a:ext uri="{FF2B5EF4-FFF2-40B4-BE49-F238E27FC236}">
                <a16:creationId xmlns:a16="http://schemas.microsoft.com/office/drawing/2014/main" id="{063E24D7-1A82-9A4E-2D8B-24ED2507F9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866" t="31864" r="37313" b="6224"/>
          <a:stretch>
            <a:fillRect/>
          </a:stretch>
        </p:blipFill>
        <p:spPr>
          <a:xfrm>
            <a:off x="6088991" y="4900599"/>
            <a:ext cx="5997820" cy="5499455"/>
          </a:xfrm>
          <a:prstGeom prst="rect">
            <a:avLst/>
          </a:prstGeom>
        </p:spPr>
      </p:pic>
      <p:sp>
        <p:nvSpPr>
          <p:cNvPr id="38" name="TextBox 10">
            <a:extLst>
              <a:ext uri="{FF2B5EF4-FFF2-40B4-BE49-F238E27FC236}">
                <a16:creationId xmlns:a16="http://schemas.microsoft.com/office/drawing/2014/main" id="{E908A0B5-383F-0674-058D-95233743E571}"/>
              </a:ext>
            </a:extLst>
          </p:cNvPr>
          <p:cNvSpPr txBox="1"/>
          <p:nvPr/>
        </p:nvSpPr>
        <p:spPr>
          <a:xfrm>
            <a:off x="167188" y="2783186"/>
            <a:ext cx="17973914" cy="21562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99"/>
              </a:lnSpc>
            </a:pP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Foi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gerada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uma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amostra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fictícia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com 50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entrevistados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utilizando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a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função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</a:rPr>
              <a:t>sample()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do R. A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amostra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foi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construída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com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distribuições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diferentes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das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proporções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populacionais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conhecidas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,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simulando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uma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situação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em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que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a coleta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apresenta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desequilíbrios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amostrais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que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precisam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ser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corrigidos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por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meio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da 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calibração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  <a:t> de pesos.</a:t>
            </a:r>
            <a:endParaRPr lang="pt-BR" dirty="0">
              <a:ea typeface="Calibri"/>
              <a:cs typeface="Calibri"/>
            </a:endParaRPr>
          </a:p>
        </p:txBody>
      </p:sp>
      <p:pic>
        <p:nvPicPr>
          <p:cNvPr id="6" name="Imagem 5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89FD21F9-0ACA-259A-507B-0AA9964B75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75" t="8235" r="32150" b="13824"/>
          <a:stretch>
            <a:fillRect/>
          </a:stretch>
        </p:blipFill>
        <p:spPr>
          <a:xfrm>
            <a:off x="11871681" y="4850202"/>
            <a:ext cx="6409721" cy="55074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9738603" y="-539486"/>
            <a:ext cx="15714543" cy="5364770"/>
            <a:chOff x="0" y="0"/>
            <a:chExt cx="4138810" cy="19468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38810" cy="1946858"/>
            </a:xfrm>
            <a:custGeom>
              <a:avLst/>
              <a:gdLst/>
              <a:ahLst/>
              <a:cxnLst/>
              <a:rect l="l" t="t" r="r" b="b"/>
              <a:pathLst>
                <a:path w="4138810" h="1946858">
                  <a:moveTo>
                    <a:pt x="6897" y="0"/>
                  </a:moveTo>
                  <a:lnTo>
                    <a:pt x="4131913" y="0"/>
                  </a:lnTo>
                  <a:cubicBezTo>
                    <a:pt x="4133742" y="0"/>
                    <a:pt x="4135496" y="727"/>
                    <a:pt x="4136790" y="2020"/>
                  </a:cubicBezTo>
                  <a:cubicBezTo>
                    <a:pt x="4138083" y="3314"/>
                    <a:pt x="4138810" y="5068"/>
                    <a:pt x="4138810" y="6897"/>
                  </a:cubicBezTo>
                  <a:lnTo>
                    <a:pt x="4138810" y="1939961"/>
                  </a:lnTo>
                  <a:cubicBezTo>
                    <a:pt x="4138810" y="1943770"/>
                    <a:pt x="4135722" y="1946858"/>
                    <a:pt x="4131913" y="1946858"/>
                  </a:cubicBezTo>
                  <a:lnTo>
                    <a:pt x="6897" y="1946858"/>
                  </a:lnTo>
                  <a:cubicBezTo>
                    <a:pt x="3088" y="1946858"/>
                    <a:pt x="0" y="1943770"/>
                    <a:pt x="0" y="1939961"/>
                  </a:cubicBezTo>
                  <a:lnTo>
                    <a:pt x="0" y="6897"/>
                  </a:lnTo>
                  <a:cubicBezTo>
                    <a:pt x="0" y="3088"/>
                    <a:pt x="3088" y="0"/>
                    <a:pt x="6897" y="0"/>
                  </a:cubicBezTo>
                  <a:close/>
                </a:path>
              </a:pathLst>
            </a:custGeom>
            <a:solidFill>
              <a:srgbClr val="C7E0E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38810" cy="1994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56735" y="720167"/>
            <a:ext cx="8077565" cy="639863"/>
            <a:chOff x="0" y="0"/>
            <a:chExt cx="1570790" cy="19124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70790" cy="191243"/>
            </a:xfrm>
            <a:custGeom>
              <a:avLst/>
              <a:gdLst/>
              <a:ahLst/>
              <a:cxnLst/>
              <a:rect l="l" t="t" r="r" b="b"/>
              <a:pathLst>
                <a:path w="1570790" h="191243">
                  <a:moveTo>
                    <a:pt x="18173" y="0"/>
                  </a:moveTo>
                  <a:lnTo>
                    <a:pt x="1552617" y="0"/>
                  </a:lnTo>
                  <a:cubicBezTo>
                    <a:pt x="1557436" y="0"/>
                    <a:pt x="1562059" y="1915"/>
                    <a:pt x="1565467" y="5323"/>
                  </a:cubicBezTo>
                  <a:cubicBezTo>
                    <a:pt x="1568875" y="8731"/>
                    <a:pt x="1570790" y="13353"/>
                    <a:pt x="1570790" y="18173"/>
                  </a:cubicBezTo>
                  <a:lnTo>
                    <a:pt x="1570790" y="173070"/>
                  </a:lnTo>
                  <a:cubicBezTo>
                    <a:pt x="1570790" y="177890"/>
                    <a:pt x="1568875" y="182512"/>
                    <a:pt x="1565467" y="185920"/>
                  </a:cubicBezTo>
                  <a:cubicBezTo>
                    <a:pt x="1562059" y="189329"/>
                    <a:pt x="1557436" y="191243"/>
                    <a:pt x="1552617" y="191243"/>
                  </a:cubicBezTo>
                  <a:lnTo>
                    <a:pt x="18173" y="191243"/>
                  </a:lnTo>
                  <a:cubicBezTo>
                    <a:pt x="8136" y="191243"/>
                    <a:pt x="0" y="183107"/>
                    <a:pt x="0" y="173070"/>
                  </a:cubicBezTo>
                  <a:lnTo>
                    <a:pt x="0" y="18173"/>
                  </a:lnTo>
                  <a:cubicBezTo>
                    <a:pt x="0" y="8136"/>
                    <a:pt x="8136" y="0"/>
                    <a:pt x="18173" y="0"/>
                  </a:cubicBezTo>
                  <a:close/>
                </a:path>
              </a:pathLst>
            </a:custGeom>
            <a:solidFill>
              <a:srgbClr val="113D57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570790" cy="2388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596699" y="1028700"/>
            <a:ext cx="1193398" cy="8206713"/>
            <a:chOff x="0" y="0"/>
            <a:chExt cx="314311" cy="216143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4311" cy="2161439"/>
            </a:xfrm>
            <a:custGeom>
              <a:avLst/>
              <a:gdLst/>
              <a:ahLst/>
              <a:cxnLst/>
              <a:rect l="l" t="t" r="r" b="b"/>
              <a:pathLst>
                <a:path w="314311" h="2161439">
                  <a:moveTo>
                    <a:pt x="129746" y="0"/>
                  </a:moveTo>
                  <a:lnTo>
                    <a:pt x="184565" y="0"/>
                  </a:lnTo>
                  <a:cubicBezTo>
                    <a:pt x="256221" y="0"/>
                    <a:pt x="314311" y="58089"/>
                    <a:pt x="314311" y="129746"/>
                  </a:cubicBezTo>
                  <a:lnTo>
                    <a:pt x="314311" y="2031693"/>
                  </a:lnTo>
                  <a:cubicBezTo>
                    <a:pt x="314311" y="2066104"/>
                    <a:pt x="300641" y="2099105"/>
                    <a:pt x="276309" y="2123437"/>
                  </a:cubicBezTo>
                  <a:cubicBezTo>
                    <a:pt x="251977" y="2147769"/>
                    <a:pt x="218975" y="2161439"/>
                    <a:pt x="184565" y="2161439"/>
                  </a:cubicBezTo>
                  <a:lnTo>
                    <a:pt x="129746" y="2161439"/>
                  </a:lnTo>
                  <a:cubicBezTo>
                    <a:pt x="95335" y="2161439"/>
                    <a:pt x="62334" y="2147769"/>
                    <a:pt x="38002" y="2123437"/>
                  </a:cubicBezTo>
                  <a:cubicBezTo>
                    <a:pt x="13670" y="2099105"/>
                    <a:pt x="0" y="2066104"/>
                    <a:pt x="0" y="2031693"/>
                  </a:cubicBezTo>
                  <a:lnTo>
                    <a:pt x="0" y="129746"/>
                  </a:lnTo>
                  <a:cubicBezTo>
                    <a:pt x="0" y="95335"/>
                    <a:pt x="13670" y="62334"/>
                    <a:pt x="38002" y="38002"/>
                  </a:cubicBezTo>
                  <a:cubicBezTo>
                    <a:pt x="62334" y="13670"/>
                    <a:pt x="95335" y="0"/>
                    <a:pt x="129746" y="0"/>
                  </a:cubicBezTo>
                  <a:close/>
                </a:path>
              </a:pathLst>
            </a:custGeom>
            <a:solidFill>
              <a:srgbClr val="6A8AB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314311" cy="2209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088473" y="4248025"/>
            <a:ext cx="401281" cy="58210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95"/>
              </a:lnSpc>
            </a:pPr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9900319" y="328436"/>
            <a:ext cx="8134714" cy="4287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510"/>
              </a:lnSpc>
            </a:pPr>
            <a:r>
              <a:rPr lang="en-US" sz="6000" b="1" spc="-394" dirty="0">
                <a:solidFill>
                  <a:srgbClr val="113D57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5.  A </a:t>
            </a:r>
            <a:r>
              <a:rPr lang="en-US" sz="6000" b="1" spc="-394" dirty="0" err="1">
                <a:solidFill>
                  <a:srgbClr val="113D57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implementação</a:t>
            </a:r>
            <a:r>
              <a:rPr lang="en-US" sz="6000" b="1" spc="-394" dirty="0">
                <a:solidFill>
                  <a:srgbClr val="113D57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e </a:t>
            </a:r>
            <a:r>
              <a:rPr lang="en-US" sz="6000" b="1" spc="-394" dirty="0" err="1">
                <a:solidFill>
                  <a:srgbClr val="113D57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resolução</a:t>
            </a:r>
            <a:r>
              <a:rPr lang="en-US" sz="6000" b="1" spc="-394" dirty="0">
                <a:solidFill>
                  <a:srgbClr val="113D57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do </a:t>
            </a:r>
            <a:r>
              <a:rPr lang="en-US" sz="6000" b="1" spc="-394" dirty="0" err="1">
                <a:solidFill>
                  <a:srgbClr val="113D57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modelo</a:t>
            </a:r>
            <a:r>
              <a:rPr lang="en-US" sz="6000" b="1" spc="-394" dirty="0">
                <a:solidFill>
                  <a:srgbClr val="113D57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no R, </a:t>
            </a:r>
            <a:r>
              <a:rPr lang="en-US" sz="6000" b="1" spc="-394" dirty="0" err="1">
                <a:solidFill>
                  <a:srgbClr val="113D57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utilizando</a:t>
            </a:r>
            <a:r>
              <a:rPr lang="en-US" sz="6000" b="1" spc="-394" dirty="0">
                <a:solidFill>
                  <a:srgbClr val="113D57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o </a:t>
            </a:r>
            <a:r>
              <a:rPr lang="en-US" sz="6000" b="1" spc="-394" dirty="0" err="1">
                <a:solidFill>
                  <a:srgbClr val="113D57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pacote</a:t>
            </a:r>
            <a:r>
              <a:rPr lang="en-US" sz="6000" b="1" spc="-394" dirty="0">
                <a:solidFill>
                  <a:srgbClr val="113D57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</a:t>
            </a:r>
            <a:r>
              <a:rPr lang="en-US" sz="6000" b="1" spc="-394" dirty="0" err="1">
                <a:solidFill>
                  <a:srgbClr val="113D57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Rglpk</a:t>
            </a:r>
            <a:r>
              <a:rPr lang="en-US" sz="6000" b="1" spc="-394" dirty="0">
                <a:solidFill>
                  <a:srgbClr val="113D57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.</a:t>
            </a:r>
            <a:endParaRPr lang="pt-BR" sz="6000">
              <a:ea typeface="Calibri"/>
              <a:cs typeface="Calibri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095530" y="779328"/>
            <a:ext cx="4659561" cy="506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99"/>
              </a:lnSpc>
              <a:spcBef>
                <a:spcPct val="0"/>
              </a:spcBef>
            </a:pPr>
            <a:r>
              <a:rPr lang="en-US" sz="2650" b="1" spc="53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Formulação</a:t>
            </a:r>
            <a:r>
              <a:rPr lang="en-US" sz="2650" b="1" spc="53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650" b="1" spc="53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Conceitual</a:t>
            </a:r>
            <a:endParaRPr lang="pt-BR" dirty="0" err="1"/>
          </a:p>
        </p:txBody>
      </p:sp>
      <p:sp>
        <p:nvSpPr>
          <p:cNvPr id="34" name="TextBox 34"/>
          <p:cNvSpPr txBox="1"/>
          <p:nvPr/>
        </p:nvSpPr>
        <p:spPr>
          <a:xfrm>
            <a:off x="4087567" y="1564726"/>
            <a:ext cx="6849277" cy="445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15"/>
              </a:lnSpc>
            </a:pP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min Σ |</a:t>
            </a:r>
            <a:r>
              <a:rPr lang="en-US" sz="265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wi</a:t>
            </a:r>
            <a:r>
              <a:rPr lang="en-US" sz="265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- 1|</a:t>
            </a:r>
            <a:endParaRPr lang="pt-BR" dirty="0"/>
          </a:p>
        </p:txBody>
      </p:sp>
      <p:grpSp>
        <p:nvGrpSpPr>
          <p:cNvPr id="36" name="Group 14">
            <a:extLst>
              <a:ext uri="{FF2B5EF4-FFF2-40B4-BE49-F238E27FC236}">
                <a16:creationId xmlns:a16="http://schemas.microsoft.com/office/drawing/2014/main" id="{92AEBF73-8352-2ACF-EEF0-E0D753EAEAB3}"/>
              </a:ext>
            </a:extLst>
          </p:cNvPr>
          <p:cNvGrpSpPr/>
          <p:nvPr/>
        </p:nvGrpSpPr>
        <p:grpSpPr>
          <a:xfrm>
            <a:off x="1078301" y="1892546"/>
            <a:ext cx="8055999" cy="890842"/>
            <a:chOff x="0" y="-47625"/>
            <a:chExt cx="1570790" cy="238868"/>
          </a:xfrm>
        </p:grpSpPr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2ACAC9C5-A34A-3FF4-C876-7D38888638E7}"/>
                </a:ext>
              </a:extLst>
            </p:cNvPr>
            <p:cNvSpPr/>
            <p:nvPr/>
          </p:nvSpPr>
          <p:spPr>
            <a:xfrm>
              <a:off x="0" y="0"/>
              <a:ext cx="1570790" cy="191243"/>
            </a:xfrm>
            <a:custGeom>
              <a:avLst/>
              <a:gdLst/>
              <a:ahLst/>
              <a:cxnLst/>
              <a:rect l="l" t="t" r="r" b="b"/>
              <a:pathLst>
                <a:path w="1570790" h="191243">
                  <a:moveTo>
                    <a:pt x="18173" y="0"/>
                  </a:moveTo>
                  <a:lnTo>
                    <a:pt x="1552617" y="0"/>
                  </a:lnTo>
                  <a:cubicBezTo>
                    <a:pt x="1557436" y="0"/>
                    <a:pt x="1562059" y="1915"/>
                    <a:pt x="1565467" y="5323"/>
                  </a:cubicBezTo>
                  <a:cubicBezTo>
                    <a:pt x="1568875" y="8731"/>
                    <a:pt x="1570790" y="13353"/>
                    <a:pt x="1570790" y="18173"/>
                  </a:cubicBezTo>
                  <a:lnTo>
                    <a:pt x="1570790" y="173070"/>
                  </a:lnTo>
                  <a:cubicBezTo>
                    <a:pt x="1570790" y="177890"/>
                    <a:pt x="1568875" y="182512"/>
                    <a:pt x="1565467" y="185920"/>
                  </a:cubicBezTo>
                  <a:cubicBezTo>
                    <a:pt x="1562059" y="189329"/>
                    <a:pt x="1557436" y="191243"/>
                    <a:pt x="1552617" y="191243"/>
                  </a:cubicBezTo>
                  <a:lnTo>
                    <a:pt x="18173" y="191243"/>
                  </a:lnTo>
                  <a:cubicBezTo>
                    <a:pt x="8136" y="191243"/>
                    <a:pt x="0" y="183107"/>
                    <a:pt x="0" y="173070"/>
                  </a:cubicBezTo>
                  <a:lnTo>
                    <a:pt x="0" y="18173"/>
                  </a:lnTo>
                  <a:cubicBezTo>
                    <a:pt x="0" y="8136"/>
                    <a:pt x="8136" y="0"/>
                    <a:pt x="18173" y="0"/>
                  </a:cubicBezTo>
                  <a:close/>
                </a:path>
              </a:pathLst>
            </a:custGeom>
            <a:solidFill>
              <a:srgbClr val="113D57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TextBox 16">
              <a:extLst>
                <a:ext uri="{FF2B5EF4-FFF2-40B4-BE49-F238E27FC236}">
                  <a16:creationId xmlns:a16="http://schemas.microsoft.com/office/drawing/2014/main" id="{3C3F08D2-CA6C-B33A-E8E7-9BBDD53981EF}"/>
                </a:ext>
              </a:extLst>
            </p:cNvPr>
            <p:cNvSpPr txBox="1"/>
            <p:nvPr/>
          </p:nvSpPr>
          <p:spPr>
            <a:xfrm>
              <a:off x="0" y="-47625"/>
              <a:ext cx="1570790" cy="2388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sp>
        <p:nvSpPr>
          <p:cNvPr id="39" name="TextBox 32">
            <a:extLst>
              <a:ext uri="{FF2B5EF4-FFF2-40B4-BE49-F238E27FC236}">
                <a16:creationId xmlns:a16="http://schemas.microsoft.com/office/drawing/2014/main" id="{40DEE03D-A211-463D-CE2F-82681786CCCE}"/>
              </a:ext>
            </a:extLst>
          </p:cNvPr>
          <p:cNvSpPr txBox="1"/>
          <p:nvPr/>
        </p:nvSpPr>
        <p:spPr>
          <a:xfrm>
            <a:off x="2297586" y="2267384"/>
            <a:ext cx="6837730" cy="501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99"/>
              </a:lnSpc>
              <a:spcBef>
                <a:spcPct val="0"/>
              </a:spcBef>
            </a:pPr>
            <a:r>
              <a:rPr lang="en-US" sz="2650" b="1" spc="53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Introdução</a:t>
            </a:r>
            <a:r>
              <a:rPr lang="en-US" sz="2650" b="1" spc="53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das </a:t>
            </a:r>
            <a:r>
              <a:rPr lang="en-US" sz="2650" b="1" spc="53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Variáveis</a:t>
            </a:r>
            <a:r>
              <a:rPr lang="en-US" sz="2650" b="1" spc="53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</a:t>
            </a:r>
            <a:r>
              <a:rPr lang="en-US" sz="2650" b="1" spc="53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Auxiliares</a:t>
            </a:r>
            <a:endParaRPr lang="pt-BR" dirty="0" err="1"/>
          </a:p>
        </p:txBody>
      </p:sp>
      <p:sp>
        <p:nvSpPr>
          <p:cNvPr id="40" name="TextBox 34">
            <a:extLst>
              <a:ext uri="{FF2B5EF4-FFF2-40B4-BE49-F238E27FC236}">
                <a16:creationId xmlns:a16="http://schemas.microsoft.com/office/drawing/2014/main" id="{73BB602E-53B7-9D19-C5A8-6999553C066B}"/>
              </a:ext>
            </a:extLst>
          </p:cNvPr>
          <p:cNvSpPr txBox="1"/>
          <p:nvPr/>
        </p:nvSpPr>
        <p:spPr>
          <a:xfrm>
            <a:off x="4842378" y="2944952"/>
            <a:ext cx="6849277" cy="445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15"/>
              </a:lnSpc>
            </a:pPr>
            <a:r>
              <a:rPr lang="en-US" sz="2700" b="1" spc="53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di</a:t>
            </a:r>
            <a:endParaRPr lang="pt-BR"/>
          </a:p>
        </p:txBody>
      </p:sp>
      <p:grpSp>
        <p:nvGrpSpPr>
          <p:cNvPr id="46" name="Group 14">
            <a:extLst>
              <a:ext uri="{FF2B5EF4-FFF2-40B4-BE49-F238E27FC236}">
                <a16:creationId xmlns:a16="http://schemas.microsoft.com/office/drawing/2014/main" id="{FBA84D89-979E-DCB5-F67E-C066BBCABCAF}"/>
              </a:ext>
            </a:extLst>
          </p:cNvPr>
          <p:cNvGrpSpPr/>
          <p:nvPr/>
        </p:nvGrpSpPr>
        <p:grpSpPr>
          <a:xfrm>
            <a:off x="1121433" y="3337469"/>
            <a:ext cx="8077565" cy="890842"/>
            <a:chOff x="0" y="-47625"/>
            <a:chExt cx="1570790" cy="238868"/>
          </a:xfrm>
        </p:grpSpPr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6C626204-6211-D5FC-8C5C-E35044037E4A}"/>
                </a:ext>
              </a:extLst>
            </p:cNvPr>
            <p:cNvSpPr/>
            <p:nvPr/>
          </p:nvSpPr>
          <p:spPr>
            <a:xfrm>
              <a:off x="0" y="0"/>
              <a:ext cx="1570790" cy="191243"/>
            </a:xfrm>
            <a:custGeom>
              <a:avLst/>
              <a:gdLst/>
              <a:ahLst/>
              <a:cxnLst/>
              <a:rect l="l" t="t" r="r" b="b"/>
              <a:pathLst>
                <a:path w="1570790" h="191243">
                  <a:moveTo>
                    <a:pt x="18173" y="0"/>
                  </a:moveTo>
                  <a:lnTo>
                    <a:pt x="1552617" y="0"/>
                  </a:lnTo>
                  <a:cubicBezTo>
                    <a:pt x="1557436" y="0"/>
                    <a:pt x="1562059" y="1915"/>
                    <a:pt x="1565467" y="5323"/>
                  </a:cubicBezTo>
                  <a:cubicBezTo>
                    <a:pt x="1568875" y="8731"/>
                    <a:pt x="1570790" y="13353"/>
                    <a:pt x="1570790" y="18173"/>
                  </a:cubicBezTo>
                  <a:lnTo>
                    <a:pt x="1570790" y="173070"/>
                  </a:lnTo>
                  <a:cubicBezTo>
                    <a:pt x="1570790" y="177890"/>
                    <a:pt x="1568875" y="182512"/>
                    <a:pt x="1565467" y="185920"/>
                  </a:cubicBezTo>
                  <a:cubicBezTo>
                    <a:pt x="1562059" y="189329"/>
                    <a:pt x="1557436" y="191243"/>
                    <a:pt x="1552617" y="191243"/>
                  </a:cubicBezTo>
                  <a:lnTo>
                    <a:pt x="18173" y="191243"/>
                  </a:lnTo>
                  <a:cubicBezTo>
                    <a:pt x="8136" y="191243"/>
                    <a:pt x="0" y="183107"/>
                    <a:pt x="0" y="173070"/>
                  </a:cubicBezTo>
                  <a:lnTo>
                    <a:pt x="0" y="18173"/>
                  </a:lnTo>
                  <a:cubicBezTo>
                    <a:pt x="0" y="8136"/>
                    <a:pt x="8136" y="0"/>
                    <a:pt x="18173" y="0"/>
                  </a:cubicBezTo>
                  <a:close/>
                </a:path>
              </a:pathLst>
            </a:custGeom>
            <a:solidFill>
              <a:srgbClr val="113D57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TextBox 16">
              <a:extLst>
                <a:ext uri="{FF2B5EF4-FFF2-40B4-BE49-F238E27FC236}">
                  <a16:creationId xmlns:a16="http://schemas.microsoft.com/office/drawing/2014/main" id="{B5E74021-8099-4FE7-91CB-2890ECFD3AD0}"/>
                </a:ext>
              </a:extLst>
            </p:cNvPr>
            <p:cNvSpPr txBox="1"/>
            <p:nvPr/>
          </p:nvSpPr>
          <p:spPr>
            <a:xfrm>
              <a:off x="0" y="-47625"/>
              <a:ext cx="1570790" cy="2388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sp>
        <p:nvSpPr>
          <p:cNvPr id="49" name="TextBox 32">
            <a:extLst>
              <a:ext uri="{FF2B5EF4-FFF2-40B4-BE49-F238E27FC236}">
                <a16:creationId xmlns:a16="http://schemas.microsoft.com/office/drawing/2014/main" id="{E2CC68A9-A093-FE00-C173-A26421120D36}"/>
              </a:ext>
            </a:extLst>
          </p:cNvPr>
          <p:cNvSpPr txBox="1"/>
          <p:nvPr/>
        </p:nvSpPr>
        <p:spPr>
          <a:xfrm>
            <a:off x="3526848" y="3626043"/>
            <a:ext cx="6837730" cy="501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99"/>
              </a:lnSpc>
              <a:spcBef>
                <a:spcPct val="0"/>
              </a:spcBef>
            </a:pPr>
            <a:r>
              <a:rPr lang="en-US" sz="2650" b="1" spc="53" dirty="0" err="1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Formulação</a:t>
            </a:r>
            <a:r>
              <a:rPr lang="en-US" sz="2650" b="1" spc="53" dirty="0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 Linear</a:t>
            </a:r>
            <a:endParaRPr lang="pt-BR" sz="2650" b="1" spc="53" dirty="0">
              <a:solidFill>
                <a:srgbClr val="FFFFFF"/>
              </a:solidFill>
              <a:latin typeface="Montserrat Bold"/>
              <a:ea typeface="+mn-lt"/>
              <a:cs typeface="+mn-lt"/>
            </a:endParaRPr>
          </a:p>
        </p:txBody>
      </p:sp>
      <p:sp>
        <p:nvSpPr>
          <p:cNvPr id="50" name="TextBox 34">
            <a:extLst>
              <a:ext uri="{FF2B5EF4-FFF2-40B4-BE49-F238E27FC236}">
                <a16:creationId xmlns:a16="http://schemas.microsoft.com/office/drawing/2014/main" id="{82B544D7-0ECB-E687-D3AD-5DE907273844}"/>
              </a:ext>
            </a:extLst>
          </p:cNvPr>
          <p:cNvSpPr txBox="1"/>
          <p:nvPr/>
        </p:nvSpPr>
        <p:spPr>
          <a:xfrm>
            <a:off x="4346358" y="4389875"/>
            <a:ext cx="6849277" cy="445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15"/>
              </a:lnSpc>
            </a:pP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min</a:t>
            </a:r>
            <a:r>
              <a:rPr lang="en-US" sz="2700" spc="53" dirty="0">
                <a:solidFill>
                  <a:srgbClr val="113D57"/>
                </a:solidFill>
                <a:ea typeface="+mn-lt"/>
                <a:cs typeface="+mn-lt"/>
                <a:sym typeface="Montserrat Medium"/>
              </a:rPr>
              <a:t> </a:t>
            </a:r>
            <a:r>
              <a:rPr lang="en-US" sz="2700" b="1" spc="53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Σ di</a:t>
            </a:r>
            <a:endParaRPr lang="pt-BR" sz="2700" b="1" spc="53" dirty="0">
              <a:solidFill>
                <a:srgbClr val="113D57"/>
              </a:solidFill>
              <a:latin typeface="Montserrat Medium"/>
              <a:ea typeface="+mn-lt"/>
              <a:cs typeface="+mn-lt"/>
            </a:endParaRPr>
          </a:p>
        </p:txBody>
      </p:sp>
      <p:grpSp>
        <p:nvGrpSpPr>
          <p:cNvPr id="51" name="Group 14">
            <a:extLst>
              <a:ext uri="{FF2B5EF4-FFF2-40B4-BE49-F238E27FC236}">
                <a16:creationId xmlns:a16="http://schemas.microsoft.com/office/drawing/2014/main" id="{1C391420-9C3F-ED43-6E35-CE99B043CF08}"/>
              </a:ext>
            </a:extLst>
          </p:cNvPr>
          <p:cNvGrpSpPr/>
          <p:nvPr/>
        </p:nvGrpSpPr>
        <p:grpSpPr>
          <a:xfrm>
            <a:off x="1056735" y="4739261"/>
            <a:ext cx="8077565" cy="890842"/>
            <a:chOff x="0" y="-47625"/>
            <a:chExt cx="1570790" cy="238868"/>
          </a:xfrm>
        </p:grpSpPr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221D3EC8-21B6-745C-DFDF-2DAF71ED23AB}"/>
                </a:ext>
              </a:extLst>
            </p:cNvPr>
            <p:cNvSpPr/>
            <p:nvPr/>
          </p:nvSpPr>
          <p:spPr>
            <a:xfrm>
              <a:off x="0" y="0"/>
              <a:ext cx="1570790" cy="191243"/>
            </a:xfrm>
            <a:custGeom>
              <a:avLst/>
              <a:gdLst/>
              <a:ahLst/>
              <a:cxnLst/>
              <a:rect l="l" t="t" r="r" b="b"/>
              <a:pathLst>
                <a:path w="1570790" h="191243">
                  <a:moveTo>
                    <a:pt x="18173" y="0"/>
                  </a:moveTo>
                  <a:lnTo>
                    <a:pt x="1552617" y="0"/>
                  </a:lnTo>
                  <a:cubicBezTo>
                    <a:pt x="1557436" y="0"/>
                    <a:pt x="1562059" y="1915"/>
                    <a:pt x="1565467" y="5323"/>
                  </a:cubicBezTo>
                  <a:cubicBezTo>
                    <a:pt x="1568875" y="8731"/>
                    <a:pt x="1570790" y="13353"/>
                    <a:pt x="1570790" y="18173"/>
                  </a:cubicBezTo>
                  <a:lnTo>
                    <a:pt x="1570790" y="173070"/>
                  </a:lnTo>
                  <a:cubicBezTo>
                    <a:pt x="1570790" y="177890"/>
                    <a:pt x="1568875" y="182512"/>
                    <a:pt x="1565467" y="185920"/>
                  </a:cubicBezTo>
                  <a:cubicBezTo>
                    <a:pt x="1562059" y="189329"/>
                    <a:pt x="1557436" y="191243"/>
                    <a:pt x="1552617" y="191243"/>
                  </a:cubicBezTo>
                  <a:lnTo>
                    <a:pt x="18173" y="191243"/>
                  </a:lnTo>
                  <a:cubicBezTo>
                    <a:pt x="8136" y="191243"/>
                    <a:pt x="0" y="183107"/>
                    <a:pt x="0" y="173070"/>
                  </a:cubicBezTo>
                  <a:lnTo>
                    <a:pt x="0" y="18173"/>
                  </a:lnTo>
                  <a:cubicBezTo>
                    <a:pt x="0" y="8136"/>
                    <a:pt x="8136" y="0"/>
                    <a:pt x="18173" y="0"/>
                  </a:cubicBezTo>
                  <a:close/>
                </a:path>
              </a:pathLst>
            </a:custGeom>
            <a:solidFill>
              <a:srgbClr val="113D57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TextBox 16">
              <a:extLst>
                <a:ext uri="{FF2B5EF4-FFF2-40B4-BE49-F238E27FC236}">
                  <a16:creationId xmlns:a16="http://schemas.microsoft.com/office/drawing/2014/main" id="{6E5579BB-87F6-C060-7ED1-0B24C90A708A}"/>
                </a:ext>
              </a:extLst>
            </p:cNvPr>
            <p:cNvSpPr txBox="1"/>
            <p:nvPr/>
          </p:nvSpPr>
          <p:spPr>
            <a:xfrm>
              <a:off x="0" y="-47625"/>
              <a:ext cx="1570790" cy="2388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sp>
        <p:nvSpPr>
          <p:cNvPr id="54" name="TextBox 32">
            <a:extLst>
              <a:ext uri="{FF2B5EF4-FFF2-40B4-BE49-F238E27FC236}">
                <a16:creationId xmlns:a16="http://schemas.microsoft.com/office/drawing/2014/main" id="{8D7D6F5B-5551-2DBB-69CB-D34CD48899D0}"/>
              </a:ext>
            </a:extLst>
          </p:cNvPr>
          <p:cNvSpPr txBox="1"/>
          <p:nvPr/>
        </p:nvSpPr>
        <p:spPr>
          <a:xfrm>
            <a:off x="4324793" y="5006271"/>
            <a:ext cx="6837730" cy="501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99"/>
              </a:lnSpc>
              <a:spcBef>
                <a:spcPct val="0"/>
              </a:spcBef>
            </a:pPr>
            <a:r>
              <a:rPr lang="en-US" sz="2650" b="1" spc="53">
                <a:solidFill>
                  <a:srgbClr val="FFFFFF"/>
                </a:solidFill>
                <a:latin typeface="Montserrat Bold"/>
                <a:ea typeface="+mn-lt"/>
                <a:cs typeface="+mn-lt"/>
                <a:sym typeface="Montserrat Bold"/>
              </a:rPr>
              <a:t>Sujeito a</a:t>
            </a:r>
            <a:endParaRPr lang="pt-BR"/>
          </a:p>
        </p:txBody>
      </p:sp>
      <p:sp>
        <p:nvSpPr>
          <p:cNvPr id="55" name="TextBox 34">
            <a:extLst>
              <a:ext uri="{FF2B5EF4-FFF2-40B4-BE49-F238E27FC236}">
                <a16:creationId xmlns:a16="http://schemas.microsoft.com/office/drawing/2014/main" id="{005C139F-CE99-37C9-9C44-4A8F04A72770}"/>
              </a:ext>
            </a:extLst>
          </p:cNvPr>
          <p:cNvSpPr txBox="1"/>
          <p:nvPr/>
        </p:nvSpPr>
        <p:spPr>
          <a:xfrm>
            <a:off x="4411056" y="5683838"/>
            <a:ext cx="6849277" cy="1394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15"/>
              </a:lnSpc>
            </a:pP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wi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- 1 ≤ di</a:t>
            </a:r>
            <a:b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</a:b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1 -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wi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≤ di</a:t>
            </a:r>
            <a:b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</a:rPr>
            </a:b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di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≥ 0</a:t>
            </a:r>
            <a:endParaRPr lang="pt-BR" dirty="0"/>
          </a:p>
        </p:txBody>
      </p:sp>
      <p:sp>
        <p:nvSpPr>
          <p:cNvPr id="56" name="TextBox 34">
            <a:extLst>
              <a:ext uri="{FF2B5EF4-FFF2-40B4-BE49-F238E27FC236}">
                <a16:creationId xmlns:a16="http://schemas.microsoft.com/office/drawing/2014/main" id="{27A33AAA-0BD2-9E68-A20D-22520B49B56F}"/>
              </a:ext>
            </a:extLst>
          </p:cNvPr>
          <p:cNvSpPr txBox="1"/>
          <p:nvPr/>
        </p:nvSpPr>
        <p:spPr>
          <a:xfrm>
            <a:off x="1046754" y="7365990"/>
            <a:ext cx="16985315" cy="2339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715"/>
              </a:lnSpc>
            </a:pP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O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modelo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de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calibração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de pesos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foi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implementado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no R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utilizando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o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pacote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Rglpk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,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que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resolve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problemas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de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Programação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Linear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através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da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função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Rglpk_solve_LP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().</a:t>
            </a:r>
            <a:b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</a:b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 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Considerando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uma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população-alvo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com 52% de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mulheres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, 48% de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homens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, 40% de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indivíduos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entre 18 e 34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anos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e 60% de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indivíduos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com 35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anos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ou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mais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e o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tamanho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da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amostra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com 50 </a:t>
            </a:r>
            <a:r>
              <a:rPr lang="en-US" sz="27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entrevistados</a:t>
            </a:r>
            <a:r>
              <a:rPr lang="en-US" sz="27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.</a:t>
            </a:r>
            <a:endParaRPr lang="pt-BR" sz="2700" b="1" spc="53" dirty="0" err="1">
              <a:solidFill>
                <a:srgbClr val="113D57"/>
              </a:solidFill>
              <a:latin typeface="Montserrat Medium"/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2133" y="-5306864"/>
            <a:ext cx="19327443" cy="7358843"/>
            <a:chOff x="0" y="0"/>
            <a:chExt cx="1375672" cy="20574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5672" cy="2057410"/>
            </a:xfrm>
            <a:custGeom>
              <a:avLst/>
              <a:gdLst/>
              <a:ahLst/>
              <a:cxnLst/>
              <a:rect l="l" t="t" r="r" b="b"/>
              <a:pathLst>
                <a:path w="1375672" h="2057410">
                  <a:moveTo>
                    <a:pt x="20751" y="0"/>
                  </a:moveTo>
                  <a:lnTo>
                    <a:pt x="1354921" y="0"/>
                  </a:lnTo>
                  <a:cubicBezTo>
                    <a:pt x="1366382" y="0"/>
                    <a:pt x="1375672" y="9290"/>
                    <a:pt x="1375672" y="20751"/>
                  </a:cubicBezTo>
                  <a:lnTo>
                    <a:pt x="1375672" y="2036659"/>
                  </a:lnTo>
                  <a:cubicBezTo>
                    <a:pt x="1375672" y="2048120"/>
                    <a:pt x="1366382" y="2057410"/>
                    <a:pt x="1354921" y="2057410"/>
                  </a:cubicBezTo>
                  <a:lnTo>
                    <a:pt x="20751" y="2057410"/>
                  </a:lnTo>
                  <a:cubicBezTo>
                    <a:pt x="9290" y="2057410"/>
                    <a:pt x="0" y="2048120"/>
                    <a:pt x="0" y="2036659"/>
                  </a:cubicBezTo>
                  <a:lnTo>
                    <a:pt x="0" y="20751"/>
                  </a:lnTo>
                  <a:cubicBezTo>
                    <a:pt x="0" y="9290"/>
                    <a:pt x="9290" y="0"/>
                    <a:pt x="20751" y="0"/>
                  </a:cubicBezTo>
                  <a:close/>
                </a:path>
              </a:pathLst>
            </a:custGeom>
            <a:solidFill>
              <a:srgbClr val="113D57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5672" cy="2105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401524" y="2042305"/>
            <a:ext cx="13882252" cy="8272732"/>
            <a:chOff x="0" y="0"/>
            <a:chExt cx="2798559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98559" cy="2167467"/>
            </a:xfrm>
            <a:custGeom>
              <a:avLst/>
              <a:gdLst/>
              <a:ahLst/>
              <a:cxnLst/>
              <a:rect l="l" t="t" r="r" b="b"/>
              <a:pathLst>
                <a:path w="2798559" h="2167467">
                  <a:moveTo>
                    <a:pt x="10200" y="0"/>
                  </a:moveTo>
                  <a:lnTo>
                    <a:pt x="2788359" y="0"/>
                  </a:lnTo>
                  <a:cubicBezTo>
                    <a:pt x="2791064" y="0"/>
                    <a:pt x="2793659" y="1075"/>
                    <a:pt x="2795572" y="2988"/>
                  </a:cubicBezTo>
                  <a:cubicBezTo>
                    <a:pt x="2797485" y="4901"/>
                    <a:pt x="2798559" y="7495"/>
                    <a:pt x="2798559" y="10200"/>
                  </a:cubicBezTo>
                  <a:lnTo>
                    <a:pt x="2798559" y="2157266"/>
                  </a:lnTo>
                  <a:cubicBezTo>
                    <a:pt x="2798559" y="2162900"/>
                    <a:pt x="2793993" y="2167467"/>
                    <a:pt x="2788359" y="2167467"/>
                  </a:cubicBezTo>
                  <a:lnTo>
                    <a:pt x="10200" y="2167467"/>
                  </a:lnTo>
                  <a:cubicBezTo>
                    <a:pt x="7495" y="2167467"/>
                    <a:pt x="4901" y="2166392"/>
                    <a:pt x="2988" y="2164479"/>
                  </a:cubicBezTo>
                  <a:cubicBezTo>
                    <a:pt x="1075" y="2162566"/>
                    <a:pt x="0" y="2159972"/>
                    <a:pt x="0" y="2157266"/>
                  </a:cubicBezTo>
                  <a:lnTo>
                    <a:pt x="0" y="10200"/>
                  </a:lnTo>
                  <a:cubicBezTo>
                    <a:pt x="0" y="7495"/>
                    <a:pt x="1075" y="4901"/>
                    <a:pt x="2988" y="2988"/>
                  </a:cubicBezTo>
                  <a:cubicBezTo>
                    <a:pt x="4901" y="1075"/>
                    <a:pt x="7495" y="0"/>
                    <a:pt x="10200" y="0"/>
                  </a:cubicBezTo>
                  <a:close/>
                </a:path>
              </a:pathLst>
            </a:custGeom>
            <a:solidFill>
              <a:srgbClr val="C7E0E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9855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85218" y="105936"/>
            <a:ext cx="1704685" cy="170468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83B2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3939484" y="542614"/>
            <a:ext cx="1196155" cy="831328"/>
          </a:xfrm>
          <a:custGeom>
            <a:avLst/>
            <a:gdLst/>
            <a:ahLst/>
            <a:cxnLst/>
            <a:rect l="l" t="t" r="r" b="b"/>
            <a:pathLst>
              <a:path w="1196155" h="831328">
                <a:moveTo>
                  <a:pt x="0" y="0"/>
                </a:moveTo>
                <a:lnTo>
                  <a:pt x="1196155" y="0"/>
                </a:lnTo>
                <a:lnTo>
                  <a:pt x="1196155" y="831328"/>
                </a:lnTo>
                <a:lnTo>
                  <a:pt x="0" y="8313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0" name="TextBox 20"/>
          <p:cNvSpPr txBox="1"/>
          <p:nvPr/>
        </p:nvSpPr>
        <p:spPr>
          <a:xfrm>
            <a:off x="546316" y="106014"/>
            <a:ext cx="10981940" cy="1729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6.  </a:t>
            </a:r>
            <a:r>
              <a:rPr lang="en-US" sz="5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</a:t>
            </a:r>
            <a:r>
              <a:rPr lang="en-US" sz="5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apresentação</a:t>
            </a:r>
            <a:r>
              <a:rPr lang="en-US" sz="5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do </a:t>
            </a:r>
            <a:r>
              <a:rPr lang="en-US" sz="5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modelo</a:t>
            </a:r>
            <a:r>
              <a:rPr lang="en-US" sz="5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</a:t>
            </a:r>
            <a:r>
              <a:rPr lang="en-US" sz="5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 e dos </a:t>
            </a:r>
            <a:r>
              <a:rPr lang="en-US" sz="5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resultados</a:t>
            </a:r>
            <a:r>
              <a:rPr lang="en-US" sz="5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obtidos</a:t>
            </a:r>
            <a:r>
              <a:rPr lang="en-US" sz="5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</p:txBody>
      </p:sp>
      <p:pic>
        <p:nvPicPr>
          <p:cNvPr id="25" name="Imagem 24" descr="Texto&#10;&#10;O conteúdo gerado por IA pode estar incorreto.">
            <a:extLst>
              <a:ext uri="{FF2B5EF4-FFF2-40B4-BE49-F238E27FC236}">
                <a16:creationId xmlns:a16="http://schemas.microsoft.com/office/drawing/2014/main" id="{ED52008A-5B45-6608-4818-6028EF9BE7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64" r="14541" b="-427"/>
          <a:stretch>
            <a:fillRect/>
          </a:stretch>
        </p:blipFill>
        <p:spPr>
          <a:xfrm>
            <a:off x="-10424" y="2049132"/>
            <a:ext cx="8841469" cy="4117952"/>
          </a:xfrm>
          <a:prstGeom prst="rect">
            <a:avLst/>
          </a:prstGeom>
        </p:spPr>
      </p:pic>
      <p:pic>
        <p:nvPicPr>
          <p:cNvPr id="26" name="Imagem 25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FF79C4CF-0E71-1D10-509D-99E11BBD44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48" t="5968" r="35700" b="6228"/>
          <a:stretch>
            <a:fillRect/>
          </a:stretch>
        </p:blipFill>
        <p:spPr>
          <a:xfrm>
            <a:off x="7368" y="5805394"/>
            <a:ext cx="8797191" cy="4482059"/>
          </a:xfrm>
          <a:prstGeom prst="rect">
            <a:avLst/>
          </a:prstGeom>
        </p:spPr>
      </p:pic>
      <p:sp>
        <p:nvSpPr>
          <p:cNvPr id="28" name="TextBox 34">
            <a:extLst>
              <a:ext uri="{FF2B5EF4-FFF2-40B4-BE49-F238E27FC236}">
                <a16:creationId xmlns:a16="http://schemas.microsoft.com/office/drawing/2014/main" id="{268EDCBC-A399-997B-646F-C9A9539BB0D4}"/>
              </a:ext>
            </a:extLst>
          </p:cNvPr>
          <p:cNvSpPr txBox="1"/>
          <p:nvPr/>
        </p:nvSpPr>
        <p:spPr>
          <a:xfrm>
            <a:off x="9177150" y="2039178"/>
            <a:ext cx="8682389" cy="2808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715"/>
              </a:lnSpc>
            </a:pP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O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modelo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de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Programação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Linear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encontrou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pesos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calibrados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capazes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de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reproduzir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as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distribuições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populacionais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de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sexo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e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faixa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etária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previamente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definidas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.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Após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a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calibração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, as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distribuições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observadas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passaram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a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coincidir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com as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proporções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da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população-alvo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.</a:t>
            </a:r>
            <a:endParaRPr lang="pt-BR" sz="2400">
              <a:ea typeface="Calibri"/>
              <a:cs typeface="Calibri"/>
            </a:endParaRPr>
          </a:p>
        </p:txBody>
      </p:sp>
      <p:sp>
        <p:nvSpPr>
          <p:cNvPr id="30" name="TextBox 34">
            <a:extLst>
              <a:ext uri="{FF2B5EF4-FFF2-40B4-BE49-F238E27FC236}">
                <a16:creationId xmlns:a16="http://schemas.microsoft.com/office/drawing/2014/main" id="{D73CA480-7290-AC9B-C223-C128FF9A627F}"/>
              </a:ext>
            </a:extLst>
          </p:cNvPr>
          <p:cNvSpPr txBox="1"/>
          <p:nvPr/>
        </p:nvSpPr>
        <p:spPr>
          <a:xfrm>
            <a:off x="9177150" y="5144687"/>
            <a:ext cx="8682389" cy="4835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715"/>
              </a:lnSpc>
            </a:pP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O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modelo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de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Programação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Linear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implementado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com o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pacote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Rglpk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ajustou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os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pesos de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uma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amostra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fictícia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inicialmente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desbalanceada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(62%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mulheres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, 38%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homens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, 58% de 18–34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anos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e 42% de 35+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anos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) para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que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ela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reproduzisse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as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proporções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da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população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de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referência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(52%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mulheres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, 48%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homens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, 40% de 18–34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anos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e 60% de 35+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anos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). Assim, o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objetivo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da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calibração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foi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alcançado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,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demonstrando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a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aplicação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prática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da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Programação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Linear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em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pesquisas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 </a:t>
            </a:r>
            <a:r>
              <a:rPr lang="en-US" sz="2400" b="1" spc="53" dirty="0" err="1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amostrais</a:t>
            </a:r>
            <a:r>
              <a:rPr lang="en-US" sz="2400" b="1" spc="53" dirty="0">
                <a:solidFill>
                  <a:srgbClr val="113D57"/>
                </a:solidFill>
                <a:latin typeface="Montserrat Medium"/>
                <a:ea typeface="+mn-lt"/>
                <a:cs typeface="+mn-lt"/>
                <a:sym typeface="Montserrat Medium"/>
              </a:rPr>
              <a:t>.</a:t>
            </a:r>
            <a:endParaRPr lang="pt-BR"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1178540"/>
          </a:xfrm>
          <a:custGeom>
            <a:avLst/>
            <a:gdLst/>
            <a:ahLst/>
            <a:cxnLst/>
            <a:rect l="l" t="t" r="r" b="b"/>
            <a:pathLst>
              <a:path w="18288000" h="11178540">
                <a:moveTo>
                  <a:pt x="0" y="0"/>
                </a:moveTo>
                <a:lnTo>
                  <a:pt x="18288000" y="0"/>
                </a:lnTo>
                <a:lnTo>
                  <a:pt x="18288000" y="11178540"/>
                </a:lnTo>
                <a:lnTo>
                  <a:pt x="0" y="11178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807</Words>
  <Application>Microsoft Office PowerPoint</Application>
  <PresentationFormat>Personalizar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Montserrat Medium</vt:lpstr>
      <vt:lpstr>Montserrat Bold</vt:lpstr>
      <vt:lpstr>Arial</vt:lpstr>
      <vt:lpstr>Calibri</vt:lpstr>
      <vt:lpstr>Montserrat Ultra-Bold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Calibração de Pesos em Surveys Amostrais:</dc:title>
  <cp:lastModifiedBy>Victor Lucas da Costa</cp:lastModifiedBy>
  <cp:revision>855</cp:revision>
  <dcterms:created xsi:type="dcterms:W3CDTF">2006-08-16T00:00:00Z</dcterms:created>
  <dcterms:modified xsi:type="dcterms:W3CDTF">2026-06-01T14:13:43Z</dcterms:modified>
  <dc:identifier>DAHLNH3A5VY</dc:identifier>
</cp:coreProperties>
</file>